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heme/theme2.xml" ContentType="application/vnd.openxmlformats-officedocument.theme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17"/>
  </p:notesMasterIdLst>
  <p:sldIdLst>
    <p:sldId id="2147471308" r:id="rId5"/>
    <p:sldId id="2147471309" r:id="rId6"/>
    <p:sldId id="2147471488" r:id="rId7"/>
    <p:sldId id="2147471261" r:id="rId8"/>
    <p:sldId id="2147471464" r:id="rId9"/>
    <p:sldId id="2147471467" r:id="rId10"/>
    <p:sldId id="2147471461" r:id="rId11"/>
    <p:sldId id="2147471478" r:id="rId12"/>
    <p:sldId id="2147471483" r:id="rId13"/>
    <p:sldId id="2147471490" r:id="rId14"/>
    <p:sldId id="2147471502" r:id="rId15"/>
    <p:sldId id="21474715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A9089-B1B1-4345-A852-DC6D89660F26}" v="3" dt="2025-01-09T17:57:36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5" d="100"/>
          <a:sy n="95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Binary_Worksheet.xlsb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45985986638771E-2"/>
          <c:y val="1.1581222097062952E-2"/>
          <c:w val="0.89157802851951229"/>
          <c:h val="0.988418777902937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581-4E27-BB10-A9A65D1DC30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81-4E27-BB10-A9A65D1DC30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581-4E27-BB10-A9A65D1DC30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581-4E27-BB10-A9A65D1DC30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581-4E27-BB10-A9A65D1DC3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Competitor</c:v>
                </c:pt>
                <c:pt idx="1">
                  <c:v>Competitor</c:v>
                </c:pt>
                <c:pt idx="2">
                  <c:v>Competitor</c:v>
                </c:pt>
                <c:pt idx="3">
                  <c:v>Competitor</c:v>
                </c:pt>
                <c:pt idx="4">
                  <c:v>Competitor</c:v>
                </c:pt>
                <c:pt idx="5">
                  <c:v>Competitor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402</c:v>
                </c:pt>
                <c:pt idx="1">
                  <c:v>400</c:v>
                </c:pt>
                <c:pt idx="2">
                  <c:v>346</c:v>
                </c:pt>
                <c:pt idx="3">
                  <c:v>232</c:v>
                </c:pt>
                <c:pt idx="4">
                  <c:v>111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581-4E27-BB10-A9A65D1DC3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Competitor</c:v>
                </c:pt>
                <c:pt idx="1">
                  <c:v>Competitor</c:v>
                </c:pt>
                <c:pt idx="2">
                  <c:v>Competitor</c:v>
                </c:pt>
                <c:pt idx="3">
                  <c:v>Competitor</c:v>
                </c:pt>
                <c:pt idx="4">
                  <c:v>Competitor</c:v>
                </c:pt>
                <c:pt idx="5">
                  <c:v>Competitor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99.000000000000014</c:v>
                </c:pt>
                <c:pt idx="1">
                  <c:v>82</c:v>
                </c:pt>
                <c:pt idx="2">
                  <c:v>105</c:v>
                </c:pt>
                <c:pt idx="3">
                  <c:v>20</c:v>
                </c:pt>
                <c:pt idx="4">
                  <c:v>100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581-4E27-BB10-A9A65D1DC3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40196208"/>
        <c:axId val="1640199120"/>
      </c:barChart>
      <c:catAx>
        <c:axId val="164019620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1640199120"/>
        <c:crosses val="autoZero"/>
        <c:auto val="1"/>
        <c:lblAlgn val="ctr"/>
        <c:lblOffset val="100"/>
        <c:noMultiLvlLbl val="0"/>
      </c:catAx>
      <c:valAx>
        <c:axId val="164019912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40196208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7.5492341356673959E-2"/>
          <c:y val="3.209764918625678E-2"/>
          <c:w val="0.88096280087527357"/>
          <c:h val="0.87432188065099459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6"/>
            <c:spPr>
              <a:solidFill>
                <a:srgbClr val="9F9F9F"/>
              </a:solidFill>
              <a:ln w="9525" algn="ctr">
                <a:noFill/>
                <a:prstDash val="solid"/>
              </a:ln>
            </c:spPr>
          </c:marker>
          <c:dPt>
            <c:idx val="4"/>
            <c:marker>
              <c:spPr>
                <a:solidFill>
                  <a:srgbClr val="000000"/>
                </a:solidFill>
                <a:ln w="9525" algn="ctr">
                  <a:noFill/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103-48A7-810F-12FDF063F1D9}"/>
              </c:ext>
            </c:extLst>
          </c:dPt>
          <c:xVal>
            <c:numRef>
              <c:f>Sheet1!$A$1:$A$8</c:f>
              <c:numCache>
                <c:formatCode>General</c:formatCode>
                <c:ptCount val="8"/>
                <c:pt idx="0">
                  <c:v>13.857142857142858</c:v>
                </c:pt>
                <c:pt idx="1">
                  <c:v>5</c:v>
                </c:pt>
                <c:pt idx="2">
                  <c:v>9</c:v>
                </c:pt>
                <c:pt idx="3">
                  <c:v>7.7142857142857144</c:v>
                </c:pt>
                <c:pt idx="4">
                  <c:v>11</c:v>
                </c:pt>
                <c:pt idx="5">
                  <c:v>6.2857142857142856</c:v>
                </c:pt>
                <c:pt idx="6">
                  <c:v>2.2857142857142856</c:v>
                </c:pt>
                <c:pt idx="7">
                  <c:v>5.1428571428571432</c:v>
                </c:pt>
              </c:numCache>
            </c:numRef>
          </c:xVal>
          <c:yVal>
            <c:numRef>
              <c:f>Sheet1!$B$1:$B$8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8.5</c:v>
                </c:pt>
                <c:pt idx="3">
                  <c:v>17</c:v>
                </c:pt>
                <c:pt idx="4">
                  <c:v>14</c:v>
                </c:pt>
                <c:pt idx="5">
                  <c:v>4</c:v>
                </c:pt>
                <c:pt idx="6">
                  <c:v>4</c:v>
                </c:pt>
                <c:pt idx="7">
                  <c:v>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03-48A7-810F-12FDF063F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9668911"/>
        <c:axId val="1"/>
      </c:scatterChart>
      <c:valAx>
        <c:axId val="1569668911"/>
        <c:scaling>
          <c:orientation val="minMax"/>
          <c:max val="16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&quot;$&quot;#,##0&quot;b&quot;;&quot;-&quot;&quot;$&quot;#,##0&quot;b&quot;" sourceLinked="0"/>
        <c:majorTickMark val="out"/>
        <c:minorTickMark val="none"/>
        <c:tickLblPos val="nextTo"/>
        <c:spPr>
          <a:ln w="9525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crossBetween val="midCat"/>
        <c:majorUnit val="2"/>
      </c:val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&quot;%&quot;;&quot;-&quot;#,##0&quot;%&quot;" sourceLinked="0"/>
        <c:majorTickMark val="out"/>
        <c:minorTickMark val="none"/>
        <c:tickLblPos val="nextTo"/>
        <c:spPr>
          <a:ln w="9525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9668911"/>
        <c:crosses val="min"/>
        <c:crossBetween val="midCat"/>
        <c:majorUnit val="5"/>
      </c:valAx>
      <c:spPr>
        <a:noFill/>
        <a:ln w="9525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767415560973493E-2"/>
          <c:y val="4.387280567257857E-2"/>
          <c:w val="0.87621426453410911"/>
          <c:h val="0.8480193993822765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</c:v>
                </c:pt>
              </c:strCache>
            </c:strRef>
          </c:tx>
          <c:spPr>
            <a:ln w="28575" cap="rnd">
              <a:solidFill>
                <a:srgbClr val="061F3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FD0-4958-B1CB-C8B4D67E888F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FD0-4958-B1CB-C8B4D67E888F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4FD0-4958-B1CB-C8B4D67E888F}"/>
                </c:ext>
              </c:extLst>
            </c:dLbl>
            <c:dLbl>
              <c:idx val="3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FD0-4958-B1CB-C8B4D67E888F}"/>
                </c:ext>
              </c:extLst>
            </c:dLbl>
            <c:dLbl>
              <c:idx val="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4FD0-4958-B1CB-C8B4D67E888F}"/>
                </c:ext>
              </c:extLst>
            </c:dLbl>
            <c:dLbl>
              <c:idx val="5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FD0-4958-B1CB-C8B4D67E888F}"/>
                </c:ext>
              </c:extLst>
            </c:dLbl>
            <c:dLbl>
              <c:idx val="6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4FD0-4958-B1CB-C8B4D67E888F}"/>
                </c:ext>
              </c:extLst>
            </c:dLbl>
            <c:dLbl>
              <c:idx val="7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4FD0-4958-B1CB-C8B4D67E888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FD0-4958-B1CB-C8B4D67E88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Scenario 1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FD0-4958-B1CB-C8B4D67E888F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4FD0-4958-B1CB-C8B4D67E888F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FD0-4958-B1CB-C8B4D67E888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FD0-4958-B1CB-C8B4D67E888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FD0-4958-B1CB-C8B4D67E888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FD0-4958-B1CB-C8B4D67E888F}"/>
                </c:ext>
              </c:extLst>
            </c:dLbl>
            <c:dLbl>
              <c:idx val="6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FD0-4958-B1CB-C8B4D67E888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FD0-4958-B1CB-C8B4D67E888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3">
                  <c:v>55</c:v>
                </c:pt>
                <c:pt idx="4">
                  <c:v>65</c:v>
                </c:pt>
                <c:pt idx="5">
                  <c:v>75</c:v>
                </c:pt>
                <c:pt idx="6">
                  <c:v>85</c:v>
                </c:pt>
                <c:pt idx="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4FD0-4958-B1CB-C8B4D67E88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Scenario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4FD0-4958-B1CB-C8B4D67E888F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4FD0-4958-B1CB-C8B4D67E888F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4FD0-4958-B1CB-C8B4D67E888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FD0-4958-B1CB-C8B4D67E888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FD0-4958-B1CB-C8B4D67E888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FD0-4958-B1CB-C8B4D67E888F}"/>
                </c:ext>
              </c:extLst>
            </c:dLbl>
            <c:dLbl>
              <c:idx val="6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A-4FD0-4958-B1CB-C8B4D67E888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FD0-4958-B1CB-C8B4D67E888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3">
                  <c:v>55</c:v>
                </c:pt>
                <c:pt idx="4">
                  <c:v>50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D-4FD0-4958-B1CB-C8B4D67E8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9798176"/>
        <c:axId val="1989808576"/>
      </c:lineChart>
      <c:catAx>
        <c:axId val="198979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808576"/>
        <c:crosses val="autoZero"/>
        <c:auto val="1"/>
        <c:lblAlgn val="ctr"/>
        <c:lblOffset val="100"/>
        <c:noMultiLvlLbl val="0"/>
      </c:catAx>
      <c:valAx>
        <c:axId val="19898085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l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798176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1A27-1E1A-4984-B4CC-44E31DBABEF7}" type="datetimeFigureOut">
              <a:rPr lang="en-CA" smtClean="0"/>
              <a:t>2025-01-09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39C5A-BE8F-446D-B1CF-1C5FB0B6FB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67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5CB9-F1FB-400C-9E37-29B86EEBA21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28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BFA1C083-E299-8E08-B9B1-3E88D95A955D}"/>
              </a:ext>
            </a:extLst>
          </p:cNvPr>
          <p:cNvSpPr/>
          <p:nvPr userDrawn="1"/>
        </p:nvSpPr>
        <p:spPr>
          <a:xfrm>
            <a:off x="-2" y="4546599"/>
            <a:ext cx="12192001" cy="2340955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6234569"/>
            <a:ext cx="88460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14" name="Company nam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5816960"/>
            <a:ext cx="88460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[Company name]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4927599"/>
            <a:ext cx="8846058" cy="768313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[Title of document]</a:t>
            </a:r>
          </a:p>
        </p:txBody>
      </p:sp>
    </p:spTree>
    <p:extLst>
      <p:ext uri="{BB962C8B-B14F-4D97-AF65-F5344CB8AC3E}">
        <p14:creationId xmlns:p14="http://schemas.microsoft.com/office/powerpoint/2010/main" val="303761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1"/>
            <a:ext cx="11082528" cy="542783"/>
          </a:xfrm>
          <a:prstGeom prst="rect">
            <a:avLst/>
          </a:prstGeom>
        </p:spPr>
        <p:txBody>
          <a:bodyPr vert="horz" anchor="b"/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929430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accent5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ection name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92846"/>
            <a:ext cx="4007104" cy="138499"/>
          </a:xfrm>
        </p:spPr>
        <p:txBody>
          <a:bodyPr wrap="square" anchor="ctr" anchorCtr="0">
            <a:spAutoFit/>
          </a:bodyPr>
          <a:lstStyle>
            <a:lvl1pPr algn="r">
              <a:defRPr sz="90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4" name="Company name and project name">
            <a:extLst>
              <a:ext uri="{FF2B5EF4-FFF2-40B4-BE49-F238E27FC236}">
                <a16:creationId xmlns:a16="http://schemas.microsoft.com/office/drawing/2014/main" id="{3A070D7A-8AC2-0DE9-F778-C7A2CD350CA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  <p:sp>
        <p:nvSpPr>
          <p:cNvPr id="5" name="Source and note">
            <a:extLst>
              <a:ext uri="{FF2B5EF4-FFF2-40B4-BE49-F238E27FC236}">
                <a16:creationId xmlns:a16="http://schemas.microsoft.com/office/drawing/2014/main" id="{FFA86AD1-334C-DA56-B865-F2F89D1745D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499381"/>
            <a:ext cx="7982873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78918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withou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1"/>
            <a:ext cx="11082528" cy="542783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ection name">
            <a:extLst>
              <a:ext uri="{FF2B5EF4-FFF2-40B4-BE49-F238E27FC236}">
                <a16:creationId xmlns:a16="http://schemas.microsoft.com/office/drawing/2014/main" id="{2DAE2DE5-FC2F-7D56-567E-BBD2B9481DB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92846"/>
            <a:ext cx="4007104" cy="138499"/>
          </a:xfrm>
        </p:spPr>
        <p:txBody>
          <a:bodyPr wrap="square" anchor="ctr" anchorCtr="0">
            <a:spAutoFit/>
          </a:bodyPr>
          <a:lstStyle>
            <a:lvl1pPr algn="r">
              <a:defRPr sz="90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11" name="Source and note">
            <a:extLst>
              <a:ext uri="{FF2B5EF4-FFF2-40B4-BE49-F238E27FC236}">
                <a16:creationId xmlns:a16="http://schemas.microsoft.com/office/drawing/2014/main" id="{CA786108-33F7-3122-2A77-0FF8B7920AC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360881"/>
            <a:ext cx="7982873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Source: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Note:</a:t>
            </a:r>
          </a:p>
        </p:txBody>
      </p:sp>
      <p:sp>
        <p:nvSpPr>
          <p:cNvPr id="12" name="Company name and project name">
            <a:extLst>
              <a:ext uri="{FF2B5EF4-FFF2-40B4-BE49-F238E27FC236}">
                <a16:creationId xmlns:a16="http://schemas.microsoft.com/office/drawing/2014/main" id="{121D7880-471E-5C8E-795C-38A3219AF5B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</p:spTree>
    <p:extLst>
      <p:ext uri="{BB962C8B-B14F-4D97-AF65-F5344CB8AC3E}">
        <p14:creationId xmlns:p14="http://schemas.microsoft.com/office/powerpoint/2010/main" val="204322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1"/>
            <a:ext cx="11082528" cy="542783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1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Company name and project name">
            <a:extLst>
              <a:ext uri="{FF2B5EF4-FFF2-40B4-BE49-F238E27FC236}">
                <a16:creationId xmlns:a16="http://schemas.microsoft.com/office/drawing/2014/main" id="{A8806966-1695-9D65-D2C6-C2F49C7AD63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E66797CD-C632-F4D9-25CE-514F6B5BF2B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55091"/>
            <a:ext cx="5065776" cy="542783"/>
          </a:xfrm>
          <a:prstGeom prst="rect">
            <a:avLst/>
          </a:prstGeom>
        </p:spPr>
        <p:txBody>
          <a:bodyPr vert="horz" anchor="b"/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04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ection number">
            <a:extLst>
              <a:ext uri="{FF2B5EF4-FFF2-40B4-BE49-F238E27FC236}">
                <a16:creationId xmlns:a16="http://schemas.microsoft.com/office/drawing/2014/main" id="{3B211354-E774-728A-F2B7-D9E20C8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0230" y="1706339"/>
            <a:ext cx="5877733" cy="4302350"/>
          </a:xfrm>
        </p:spPr>
        <p:txBody>
          <a:bodyPr anchor="ctr"/>
          <a:lstStyle>
            <a:lvl1pPr>
              <a:defRPr sz="41300">
                <a:solidFill>
                  <a:schemeClr val="tx1"/>
                </a:solidFill>
              </a:defRPr>
            </a:lvl1pPr>
            <a:lvl2pPr>
              <a:defRPr sz="41300"/>
            </a:lvl2pPr>
            <a:lvl3pPr>
              <a:defRPr sz="41300"/>
            </a:lvl3pPr>
            <a:lvl4pPr>
              <a:defRPr sz="41300"/>
            </a:lvl4pPr>
            <a:lvl5pPr>
              <a:defRPr sz="41300"/>
            </a:lvl5pPr>
          </a:lstStyle>
          <a:p>
            <a:pPr lvl="0"/>
            <a:r>
              <a:rPr lang="en-US" dirty="0"/>
              <a:t>00</a:t>
            </a:r>
            <a:endParaRPr lang="en-CA" dirty="0"/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601CAD11-72AF-71DE-1BF5-02C1179BBE9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5" y="2744370"/>
            <a:ext cx="4739160" cy="55399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Document name">
            <a:extLst>
              <a:ext uri="{FF2B5EF4-FFF2-40B4-BE49-F238E27FC236}">
                <a16:creationId xmlns:a16="http://schemas.microsoft.com/office/drawing/2014/main" id="{9E048BC4-D735-CD22-D231-1C256A54982B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2320785"/>
            <a:ext cx="4739160" cy="276999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Company name and project name">
            <a:extLst>
              <a:ext uri="{FF2B5EF4-FFF2-40B4-BE49-F238E27FC236}">
                <a16:creationId xmlns:a16="http://schemas.microsoft.com/office/drawing/2014/main" id="{67822969-6FF7-2B1F-31C0-5FC6416153D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</p:spTree>
    <p:extLst>
      <p:ext uri="{BB962C8B-B14F-4D97-AF65-F5344CB8AC3E}">
        <p14:creationId xmlns:p14="http://schemas.microsoft.com/office/powerpoint/2010/main" val="225050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rk divider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mpany name and project name">
            <a:extLst>
              <a:ext uri="{FF2B5EF4-FFF2-40B4-BE49-F238E27FC236}">
                <a16:creationId xmlns:a16="http://schemas.microsoft.com/office/drawing/2014/main" id="{83F8B76D-1915-759E-44EF-F24B4995A4A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9887628" y="6499381"/>
            <a:ext cx="1389804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Client name | Project name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6DA758A9-1360-0FFA-B52D-D06CA941CAD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744370"/>
            <a:ext cx="4739160" cy="55399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Section number">
            <a:extLst>
              <a:ext uri="{FF2B5EF4-FFF2-40B4-BE49-F238E27FC236}">
                <a16:creationId xmlns:a16="http://schemas.microsoft.com/office/drawing/2014/main" id="{C908877B-D1A6-AD2D-5BE2-61A2E15630B7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5" y="2320785"/>
            <a:ext cx="4739160" cy="276999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7121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ompany name and project name">
            <a:extLst>
              <a:ext uri="{FF2B5EF4-FFF2-40B4-BE49-F238E27FC236}">
                <a16:creationId xmlns:a16="http://schemas.microsoft.com/office/drawing/2014/main" id="{4C84ED83-D79B-4BA3-4FA7-EBEECC6A580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</p:spTree>
    <p:extLst>
      <p:ext uri="{BB962C8B-B14F-4D97-AF65-F5344CB8AC3E}">
        <p14:creationId xmlns:p14="http://schemas.microsoft.com/office/powerpoint/2010/main" val="256832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mpany name and project name">
            <a:extLst>
              <a:ext uri="{FF2B5EF4-FFF2-40B4-BE49-F238E27FC236}">
                <a16:creationId xmlns:a16="http://schemas.microsoft.com/office/drawing/2014/main" id="{83F8B76D-1915-759E-44EF-F24B4995A4A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9887628" y="6499381"/>
            <a:ext cx="1389804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Client name | Project name</a:t>
            </a:r>
          </a:p>
        </p:txBody>
      </p:sp>
    </p:spTree>
    <p:extLst>
      <p:ext uri="{BB962C8B-B14F-4D97-AF65-F5344CB8AC3E}">
        <p14:creationId xmlns:p14="http://schemas.microsoft.com/office/powerpoint/2010/main" val="8832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1"/>
            <a:ext cx="11082528" cy="542783"/>
          </a:xfrm>
          <a:prstGeom prst="rect">
            <a:avLst/>
          </a:prstGeom>
        </p:spPr>
        <p:txBody>
          <a:bodyPr vert="horz" anchor="b"/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929430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accent5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ection name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92846"/>
            <a:ext cx="4007104" cy="138499"/>
          </a:xfrm>
        </p:spPr>
        <p:txBody>
          <a:bodyPr wrap="square" anchor="ctr" anchorCtr="0">
            <a:spAutoFit/>
          </a:bodyPr>
          <a:lstStyle>
            <a:lvl1pPr algn="r">
              <a:defRPr sz="90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4" name="Company name and project name">
            <a:extLst>
              <a:ext uri="{FF2B5EF4-FFF2-40B4-BE49-F238E27FC236}">
                <a16:creationId xmlns:a16="http://schemas.microsoft.com/office/drawing/2014/main" id="{3A070D7A-8AC2-0DE9-F778-C7A2CD350CA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9688856" y="6499381"/>
            <a:ext cx="158857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rPr>
              <a:t>Company name | Project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B687C-FA41-39FE-A2AB-7741BEA4DF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4735" y="6499381"/>
            <a:ext cx="7982873" cy="138499"/>
          </a:xfr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Source(s) and/or note(s):</a:t>
            </a:r>
          </a:p>
        </p:txBody>
      </p:sp>
    </p:spTree>
    <p:extLst>
      <p:ext uri="{BB962C8B-B14F-4D97-AF65-F5344CB8AC3E}">
        <p14:creationId xmlns:p14="http://schemas.microsoft.com/office/powerpoint/2010/main" val="161609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54736" y="355092"/>
            <a:ext cx="11082528" cy="44451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1029866"/>
            <a:ext cx="11082528" cy="5291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811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spc="0" baseline="0">
          <a:ln w="6350" cap="flat">
            <a:noFill/>
            <a:miter lim="800000"/>
          </a:ln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48">
          <p15:clr>
            <a:srgbClr val="F26B43"/>
          </p15:clr>
        </p15:guide>
        <p15:guide id="4" pos="3552">
          <p15:clr>
            <a:srgbClr val="F26B43"/>
          </p15:clr>
        </p15:guide>
        <p15:guide id="5" pos="4128">
          <p15:clr>
            <a:srgbClr val="F26B43"/>
          </p15:clr>
        </p15:guide>
        <p15:guide id="6" pos="7331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4320">
          <p15:clr>
            <a:srgbClr val="F26B43"/>
          </p15:clr>
        </p15:guide>
        <p15:guide id="9" orient="horz" pos="936">
          <p15:clr>
            <a:srgbClr val="F26B43"/>
          </p15:clr>
        </p15:guide>
        <p15:guide id="10" orient="horz" pos="2171">
          <p15:clr>
            <a:srgbClr val="F26B43"/>
          </p15:clr>
        </p15:guide>
        <p15:guide id="11" orient="horz" pos="2747">
          <p15:clr>
            <a:srgbClr val="F26B43"/>
          </p15:clr>
        </p15:guide>
        <p15:guide id="12" orient="horz" pos="398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hyperlink" Target="https://pptpowertools.com/consultingtoolkit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ptpowertools.com/consultingtoolki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3" Type="http://schemas.openxmlformats.org/officeDocument/2006/relationships/tags" Target="../tags/tag42.xml"/><Relationship Id="rId21" Type="http://schemas.openxmlformats.org/officeDocument/2006/relationships/image" Target="../media/image4.png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image" Target="../media/image3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10" Type="http://schemas.openxmlformats.org/officeDocument/2006/relationships/tags" Target="../tags/tag49.xml"/><Relationship Id="rId19" Type="http://schemas.openxmlformats.org/officeDocument/2006/relationships/slideLayout" Target="../slideLayouts/slideLayout4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61.xml"/><Relationship Id="rId9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chart" Target="../charts/chart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Relationship Id="rId5" Type="http://schemas.openxmlformats.org/officeDocument/2006/relationships/chart" Target="../charts/chart3.xml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9E02DA4-A886-7DFF-A5EB-E49E233EB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736" y="6234569"/>
            <a:ext cx="8846058" cy="215444"/>
          </a:xfrm>
        </p:spPr>
        <p:txBody>
          <a:bodyPr/>
          <a:lstStyle/>
          <a:p>
            <a:r>
              <a:rPr lang="en-US" dirty="0"/>
              <a:t>Nov. 2024</a:t>
            </a:r>
            <a:endParaRPr lang="en-CA" dirty="0"/>
          </a:p>
        </p:txBody>
      </p:sp>
      <p:sp>
        <p:nvSpPr>
          <p:cNvPr id="36" name="Subtitle 35">
            <a:extLst>
              <a:ext uri="{FF2B5EF4-FFF2-40B4-BE49-F238E27FC236}">
                <a16:creationId xmlns:a16="http://schemas.microsoft.com/office/drawing/2014/main" id="{C55A921F-C927-7CCB-F191-2EF5E4FA1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942" y="5816960"/>
            <a:ext cx="8846058" cy="307777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PowerPoint PowerTools – </a:t>
            </a:r>
            <a:r>
              <a:rPr lang="en-US" dirty="0">
                <a:solidFill>
                  <a:schemeClr val="dk1"/>
                </a:solidFill>
                <a:hlinkClick r:id="rId4"/>
              </a:rPr>
              <a:t>Get the complete 130+ slide toolkit</a:t>
            </a:r>
            <a:endParaRPr lang="en-CA" dirty="0">
              <a:solidFill>
                <a:schemeClr val="dk1"/>
              </a:solidFill>
            </a:endParaRP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4738A65E-3DB2-4F8F-C73A-D7DD3E98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42" y="4927599"/>
            <a:ext cx="8846058" cy="76831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Consulting Toolkit Sample</a:t>
            </a:r>
            <a:endParaRPr lang="en-CA" dirty="0"/>
          </a:p>
        </p:txBody>
      </p:sp>
      <p:pic>
        <p:nvPicPr>
          <p:cNvPr id="6" name="Picture 4" descr="timelapse photo of the road with cars">
            <a:extLst>
              <a:ext uri="{FF2B5EF4-FFF2-40B4-BE49-F238E27FC236}">
                <a16:creationId xmlns:a16="http://schemas.microsoft.com/office/drawing/2014/main" id="{E8399630-9953-7A34-7C91-43FE9B6CB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461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white lightning bolt on a black background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60AEE6AC-3BFF-176E-7DF9-2EEE36B4D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8362" y="5004903"/>
            <a:ext cx="1468902" cy="14701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9778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4F86-EC1F-5FF6-F601-68707597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dk1"/>
                </a:solidFill>
              </a:rPr>
              <a:t>Contents of the Consulting Toolkit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938D-8BC0-725F-175C-79A231332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following 10 slides serve as a sample of the </a:t>
            </a:r>
            <a:r>
              <a:rPr lang="en-US" dirty="0">
                <a:hlinkClick r:id="rId2"/>
              </a:rPr>
              <a:t>full templates deck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F6C7F-AAE2-9E18-19EC-53B673BDB4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F9498-2EA4-EFE3-925B-2508A2C73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128000"/>
              </p:ext>
            </p:extLst>
          </p:nvPr>
        </p:nvGraphicFramePr>
        <p:xfrm>
          <a:off x="554736" y="1540983"/>
          <a:ext cx="11082528" cy="459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>
                  <a:extLst>
                    <a:ext uri="{9D8B030D-6E8A-4147-A177-3AD203B41FA5}">
                      <a16:colId xmlns:a16="http://schemas.microsoft.com/office/drawing/2014/main" val="370770101"/>
                    </a:ext>
                  </a:extLst>
                </a:gridCol>
                <a:gridCol w="5541264">
                  <a:extLst>
                    <a:ext uri="{9D8B030D-6E8A-4147-A177-3AD203B41FA5}">
                      <a16:colId xmlns:a16="http://schemas.microsoft.com/office/drawing/2014/main" val="2436526088"/>
                    </a:ext>
                  </a:extLst>
                </a:gridCol>
              </a:tblGrid>
              <a:tr h="382951">
                <a:tc grid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lt1"/>
                          </a:solidFill>
                        </a:rPr>
                        <a:t>Slide types featured in the PowerTools Consulting Toolkit</a:t>
                      </a:r>
                      <a:endParaRPr lang="en-CA" sz="1400" dirty="0">
                        <a:solidFill>
                          <a:schemeClr val="l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400" dirty="0">
                        <a:solidFill>
                          <a:schemeClr val="l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461211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b="0" noProof="0" dirty="0">
                          <a:solidFill>
                            <a:schemeClr val="dk1"/>
                          </a:solidFill>
                        </a:rPr>
                        <a:t>Titles, contents, and dividers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Organizational diagrams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367614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fr-CA" sz="1400" b="0">
                          <a:solidFill>
                            <a:schemeClr val="dk1"/>
                          </a:solidFill>
                        </a:rPr>
                        <a:t>Executive summaries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Column and bar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834372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Frameworks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Waterfall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139753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Standard texts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Line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930009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Hypotheses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Bubble and scatter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911303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Option assessments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Pie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699037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Competitor evaluations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Multiple charts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498702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M&amp;A analyses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Insights and recommendations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311848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Market scans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Timelines and implementation plans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203810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Processes and journeys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Next steps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284041"/>
                  </a:ext>
                </a:extLst>
              </a:tr>
              <a:tr h="38295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Tree diagrams</a:t>
                      </a:r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400" b="0" dirty="0">
                        <a:solidFill>
                          <a:schemeClr val="dk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3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886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9EA1-391B-6E37-862E-9BAC0CD2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Reader’s guide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AA27D-9CA3-019C-B416-F72164CEEEC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6713" y="3934902"/>
            <a:ext cx="1947672" cy="108943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35177E-7063-E891-3755-1A7F856D97CF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608842" y="1455765"/>
            <a:ext cx="4754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168543D-CAC9-2C04-4184-7BBE1677273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8841" y="1180369"/>
            <a:ext cx="4754871" cy="288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1. [SECTION NAME] (p.[#]-[#])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CA3F3B-3C04-791A-1C38-964589C9552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608842" y="3221834"/>
            <a:ext cx="4754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A8A698A-D179-6D1A-ECA8-38643BC2F17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08842" y="2944780"/>
            <a:ext cx="4754872" cy="288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2. [SECTION NAME] (p.[#]-[#])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32C7BF-A015-6966-51A6-C1D3017CD6D0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08835" y="5018299"/>
            <a:ext cx="4754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336E509-AE8B-8D72-90A5-79C97655086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8842" y="4711284"/>
            <a:ext cx="4754874" cy="288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 [SECTION NAME] (p.[#]-[#])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FB366-3C90-EE34-337A-349B6FAEBC9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77846" y="1590340"/>
            <a:ext cx="2651760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100" b="0" i="1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[Description of what readers can find in this section – this is placeholder text to replace – this is placeholder text to replace – this is placeholder text to replace – this is placeholder text to replace]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2FF64-4B02-98B5-103B-083DCC1FA0B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77846" y="3376009"/>
            <a:ext cx="2651760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100" b="0" i="1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[Description of what readers can find in this section – this is placeholder text to replace – this is placeholder text to replace – this is placeholder text to replace – this is placeholder text to replace]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26937-BAB5-1D98-E330-88C020471F8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77846" y="5237022"/>
            <a:ext cx="2651760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100" b="0" i="1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[Description of what readers can find in this section – this is placeholder text to replace – this is placeholder text to replace – this is placeholder text to replace – this is placeholder text to replace]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4C1C7-BF7E-7AA5-0567-B85CB159579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46713" y="5281395"/>
            <a:ext cx="4693685" cy="875629"/>
          </a:xfrm>
          <a:prstGeom prst="rect">
            <a:avLst/>
          </a:prstGeom>
          <a:ln w="1905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88900" tIns="88900" rIns="88900" bIns="88900" rtlCol="0" anchor="ctr"/>
          <a:lstStyle>
            <a:defPPr>
              <a:defRPr lang="en-US"/>
            </a:defPPr>
            <a:lvl1pPr>
              <a:lnSpc>
                <a:spcPct val="106000"/>
              </a:lnSpc>
              <a:buFont typeface="Wingdings 2" pitchFamily="18" charset="2"/>
              <a:buNone/>
              <a:defRPr sz="9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100" b="0" i="1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[Description of what readers can find in this this slide  – this is placeholder text to replace – this is placeholder text to replace – this is placeholder text to replace – this is placeholder text to replace]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2B2153-34B3-6306-474F-E9FB063F7D3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624924" y="1702750"/>
            <a:ext cx="2410176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CA" sz="1100" i="1" dirty="0">
                <a:solidFill>
                  <a:srgbClr val="313131"/>
                </a:solidFill>
                <a:latin typeface="Segoe UI"/>
              </a:rPr>
              <a:t>[Description of the slides that repeats in each deep dive – this is placeholder text to replace – this is placeholder text to replace]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A43B30-E92F-008D-099D-BF9CAAE54183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624924" y="2921907"/>
            <a:ext cx="2410176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CA" sz="1100" i="1" dirty="0">
                <a:solidFill>
                  <a:srgbClr val="313131"/>
                </a:solidFill>
                <a:latin typeface="Segoe UI"/>
              </a:rPr>
              <a:t>[Description of the slides that repeats in each deep dive – this is placeholder text to replace – this is placeholder text to replace]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74906-F8A1-E763-06BE-B241962517B9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624924" y="4141066"/>
            <a:ext cx="2410176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CA" sz="1100" i="1" dirty="0">
                <a:solidFill>
                  <a:srgbClr val="313131"/>
                </a:solidFill>
                <a:latin typeface="Segoe UI"/>
              </a:rPr>
              <a:t>[Description of the slides that repeats in each deep dive – this is placeholder text to replace – this is placeholder text to replace]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EB410D-EE1E-9D91-4A9E-8AB0392AEDC7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8091949" y="5018299"/>
            <a:ext cx="0" cy="263096"/>
          </a:xfrm>
          <a:prstGeom prst="line">
            <a:avLst/>
          </a:prstGeom>
          <a:ln w="1905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9AA8E3-9FDF-4F36-091F-D460C0A02AD0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6277139" y="1269259"/>
            <a:ext cx="0" cy="374904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AC98A06-734D-8880-A628-AE5EFE608936}"/>
              </a:ext>
            </a:extLst>
          </p:cNvPr>
          <p:cNvCxnSpPr>
            <a:stCxn id="11" idx="3"/>
          </p:cNvCxnSpPr>
          <p:nvPr>
            <p:custDataLst>
              <p:tags r:id="rId17"/>
            </p:custDataLst>
          </p:nvPr>
        </p:nvCxnSpPr>
        <p:spPr>
          <a:xfrm flipV="1">
            <a:off x="5429606" y="3502491"/>
            <a:ext cx="847533" cy="296711"/>
          </a:xfrm>
          <a:prstGeom prst="bentConnector3">
            <a:avLst/>
          </a:prstGeom>
          <a:ln w="1905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F4C3D0-7FED-8C06-3D40-F89487AFD92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46713" y="1248949"/>
            <a:ext cx="2124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1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Each [item] deep dive includes: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D16951-6A36-7021-B4BD-BEECD65D1C7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842" y="1593399"/>
            <a:ext cx="1943550" cy="108712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A0E36F-E3C1-C2D6-60B9-97A1269B8F2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842" y="3340276"/>
            <a:ext cx="1943550" cy="108712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66A2780-5BA9-6C08-2EFA-2EE75EE1F5C6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842" y="5116651"/>
            <a:ext cx="1943550" cy="108712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B2409E-4461-F687-EA10-0F915738B5B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1600" y="1496586"/>
            <a:ext cx="1947672" cy="108943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BCF4A1-40AD-36D9-0DA0-FA2B2345FA5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3844" y="2715744"/>
            <a:ext cx="1947672" cy="108943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716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Hypotheses – Takeaways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D1CCC-76D6-5EA2-415A-0784B714EB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67E48F-AC1C-AF6E-5DF5-19C383B873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AE6269-BFF5-DFF5-6C25-7AAFCAF55F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503EA8-2C6D-0E8C-963A-099B75E93E3F}"/>
              </a:ext>
            </a:extLst>
          </p:cNvPr>
          <p:cNvGraphicFramePr>
            <a:graphicFrameLocks noGrp="1"/>
          </p:cNvGraphicFramePr>
          <p:nvPr/>
        </p:nvGraphicFramePr>
        <p:xfrm>
          <a:off x="554734" y="1400674"/>
          <a:ext cx="11082528" cy="489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706">
                  <a:extLst>
                    <a:ext uri="{9D8B030D-6E8A-4147-A177-3AD203B41FA5}">
                      <a16:colId xmlns:a16="http://schemas.microsoft.com/office/drawing/2014/main" val="31926269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41287817"/>
                    </a:ext>
                  </a:extLst>
                </a:gridCol>
                <a:gridCol w="1620011">
                  <a:extLst>
                    <a:ext uri="{9D8B030D-6E8A-4147-A177-3AD203B41FA5}">
                      <a16:colId xmlns:a16="http://schemas.microsoft.com/office/drawing/2014/main" val="2180731177"/>
                    </a:ext>
                  </a:extLst>
                </a:gridCol>
                <a:gridCol w="1620011">
                  <a:extLst>
                    <a:ext uri="{9D8B030D-6E8A-4147-A177-3AD203B41FA5}">
                      <a16:colId xmlns:a16="http://schemas.microsoft.com/office/drawing/2014/main" val="408827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Category</a:t>
                      </a:r>
                      <a:endParaRPr lang="en-CA" sz="1400" dirty="0"/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Hypothesis</a:t>
                      </a:r>
                      <a:endParaRPr lang="en-CA" sz="1400" dirty="0"/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Validation</a:t>
                      </a:r>
                      <a:endParaRPr lang="en-CA" sz="1400" dirty="0"/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Level of certainty</a:t>
                      </a:r>
                      <a:endParaRPr lang="en-CA" sz="1400" dirty="0"/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878854"/>
                  </a:ext>
                </a:extLst>
              </a:tr>
              <a:tr h="502920">
                <a:tc rowSpan="3">
                  <a:txBody>
                    <a:bodyPr/>
                    <a:lstStyle/>
                    <a:p>
                      <a:r>
                        <a:rPr lang="en-US" sz="1200" b="1" dirty="0"/>
                        <a:t>1. </a:t>
                      </a:r>
                      <a:r>
                        <a:rPr lang="en-US" sz="1200" b="0" dirty="0"/>
                        <a:t>[Category (e.g., industry segment, competitor, option group)]</a:t>
                      </a:r>
                      <a:endParaRPr lang="en-CA" sz="1200" b="0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465509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1.2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X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75127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19767"/>
                  </a:ext>
                </a:extLst>
              </a:tr>
              <a:tr h="50292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2. </a:t>
                      </a:r>
                      <a:r>
                        <a:rPr lang="en-US" sz="1200" b="0" dirty="0"/>
                        <a:t>[Category (e.g., industry segment, competitor, option group)]</a:t>
                      </a:r>
                      <a:endParaRPr lang="en-CA" sz="1200" b="0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2.1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482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69899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2.3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X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15872"/>
                  </a:ext>
                </a:extLst>
              </a:tr>
              <a:tr h="50292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3. </a:t>
                      </a:r>
                      <a:r>
                        <a:rPr lang="en-US" sz="1200" b="0" dirty="0"/>
                        <a:t>[Category (e.g., industry segment, competitor, option group)]</a:t>
                      </a:r>
                      <a:endParaRPr lang="en-CA" sz="1200" b="0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3.1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6786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3.2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X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92999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3.3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[Hypothesis pertaining to the category, which the project will test]</a:t>
                      </a: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64008" marB="640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81384"/>
                  </a:ext>
                </a:extLst>
              </a:tr>
            </a:tbl>
          </a:graphicData>
        </a:graphic>
      </p:graphicFrame>
      <p:sp>
        <p:nvSpPr>
          <p:cNvPr id="13" name="HarveyBall 705548">
            <a:extLst>
              <a:ext uri="{FF2B5EF4-FFF2-40B4-BE49-F238E27FC236}">
                <a16:creationId xmlns:a16="http://schemas.microsoft.com/office/drawing/2014/main" id="{DAD01531-B71A-281E-9020-F9504CEE27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679096" y="1874813"/>
            <a:ext cx="296321" cy="296321"/>
          </a:xfrm>
          <a:custGeom>
            <a:avLst/>
            <a:gdLst>
              <a:gd name="connsiteX0" fmla="*/ 317501 w 635000"/>
              <a:gd name="connsiteY0" fmla="*/ 12701 h 635000"/>
              <a:gd name="connsiteX1" fmla="*/ 35852 w 635000"/>
              <a:gd name="connsiteY1" fmla="*/ 200982 h 635000"/>
              <a:gd name="connsiteX2" fmla="*/ 102163 w 635000"/>
              <a:gd name="connsiteY2" fmla="*/ 533215 h 635000"/>
              <a:gd name="connsiteX3" fmla="*/ 434511 w 635000"/>
              <a:gd name="connsiteY3" fmla="*/ 598946 h 635000"/>
              <a:gd name="connsiteX4" fmla="*/ 622300 w 635000"/>
              <a:gd name="connsiteY4" fmla="*/ 316968 h 635000"/>
              <a:gd name="connsiteX5" fmla="*/ 317500 w 635000"/>
              <a:gd name="connsiteY5" fmla="*/ 317500 h 635000"/>
              <a:gd name="connsiteX6" fmla="*/ 317501 w 635000"/>
              <a:gd name="connsiteY6" fmla="*/ 12701 h 635000"/>
              <a:gd name="connsiteX7" fmla="*/ 317500 w 635000"/>
              <a:gd name="connsiteY7" fmla="*/ 0 h 635000"/>
              <a:gd name="connsiteX8" fmla="*/ 635000 w 635000"/>
              <a:gd name="connsiteY8" fmla="*/ 317500 h 635000"/>
              <a:gd name="connsiteX9" fmla="*/ 317500 w 635000"/>
              <a:gd name="connsiteY9" fmla="*/ 635000 h 635000"/>
              <a:gd name="connsiteX10" fmla="*/ 0 w 635000"/>
              <a:gd name="connsiteY10" fmla="*/ 317500 h 635000"/>
              <a:gd name="connsiteX11" fmla="*/ 317500 w 635000"/>
              <a:gd name="connsiteY11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000" h="635000">
                <a:moveTo>
                  <a:pt x="317501" y="12701"/>
                </a:moveTo>
                <a:cubicBezTo>
                  <a:pt x="194173" y="12701"/>
                  <a:pt x="82998" y="87021"/>
                  <a:pt x="35852" y="200982"/>
                </a:cubicBezTo>
                <a:cubicBezTo>
                  <a:pt x="-11294" y="314943"/>
                  <a:pt x="14881" y="446085"/>
                  <a:pt x="102163" y="533215"/>
                </a:cubicBezTo>
                <a:cubicBezTo>
                  <a:pt x="189445" y="620345"/>
                  <a:pt x="320632" y="646291"/>
                  <a:pt x="434511" y="598946"/>
                </a:cubicBezTo>
                <a:cubicBezTo>
                  <a:pt x="548390" y="551601"/>
                  <a:pt x="622515" y="440296"/>
                  <a:pt x="622300" y="316968"/>
                </a:cubicBezTo>
                <a:lnTo>
                  <a:pt x="317500" y="317500"/>
                </a:lnTo>
                <a:cubicBezTo>
                  <a:pt x="317500" y="215900"/>
                  <a:pt x="317501" y="114301"/>
                  <a:pt x="317501" y="12701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14" name="HarveyBall 579519">
            <a:extLst>
              <a:ext uri="{FF2B5EF4-FFF2-40B4-BE49-F238E27FC236}">
                <a16:creationId xmlns:a16="http://schemas.microsoft.com/office/drawing/2014/main" id="{BED0FAB9-58F7-B055-A3D0-503B43F68B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679096" y="5898174"/>
            <a:ext cx="296321" cy="296321"/>
          </a:xfrm>
          <a:custGeom>
            <a:avLst/>
            <a:gdLst>
              <a:gd name="connsiteX0" fmla="*/ 316968 w 635000"/>
              <a:gd name="connsiteY0" fmla="*/ 12700 h 635000"/>
              <a:gd name="connsiteX1" fmla="*/ 317500 w 635000"/>
              <a:gd name="connsiteY1" fmla="*/ 317500 h 635000"/>
              <a:gd name="connsiteX2" fmla="*/ 317500 w 635000"/>
              <a:gd name="connsiteY2" fmla="*/ 12700 h 635000"/>
              <a:gd name="connsiteX3" fmla="*/ 317500 w 635000"/>
              <a:gd name="connsiteY3" fmla="*/ 0 h 635000"/>
              <a:gd name="connsiteX4" fmla="*/ 635000 w 635000"/>
              <a:gd name="connsiteY4" fmla="*/ 317500 h 635000"/>
              <a:gd name="connsiteX5" fmla="*/ 317500 w 635000"/>
              <a:gd name="connsiteY5" fmla="*/ 635000 h 635000"/>
              <a:gd name="connsiteX6" fmla="*/ 0 w 635000"/>
              <a:gd name="connsiteY6" fmla="*/ 317500 h 635000"/>
              <a:gd name="connsiteX7" fmla="*/ 317500 w 635000"/>
              <a:gd name="connsiteY7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5000" h="635000">
                <a:moveTo>
                  <a:pt x="316968" y="12700"/>
                </a:moveTo>
                <a:cubicBezTo>
                  <a:pt x="317145" y="114300"/>
                  <a:pt x="317323" y="215900"/>
                  <a:pt x="317500" y="317500"/>
                </a:cubicBezTo>
                <a:lnTo>
                  <a:pt x="317500" y="12700"/>
                </a:ln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16" name="HarveyBall 301948">
            <a:extLst>
              <a:ext uri="{FF2B5EF4-FFF2-40B4-BE49-F238E27FC236}">
                <a16:creationId xmlns:a16="http://schemas.microsoft.com/office/drawing/2014/main" id="{FDF3616F-C551-96B0-564B-CF28B87702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679096" y="2880654"/>
            <a:ext cx="296321" cy="296321"/>
          </a:xfrm>
          <a:custGeom>
            <a:avLst/>
            <a:gdLst>
              <a:gd name="connsiteX0" fmla="*/ 317500 w 635000"/>
              <a:gd name="connsiteY0" fmla="*/ 12700 h 635000"/>
              <a:gd name="connsiteX1" fmla="*/ 53447 w 635000"/>
              <a:gd name="connsiteY1" fmla="*/ 165254 h 635000"/>
              <a:gd name="connsiteX2" fmla="*/ 53713 w 635000"/>
              <a:gd name="connsiteY2" fmla="*/ 470207 h 635000"/>
              <a:gd name="connsiteX3" fmla="*/ 318032 w 635000"/>
              <a:gd name="connsiteY3" fmla="*/ 622300 h 635000"/>
              <a:gd name="connsiteX4" fmla="*/ 317500 w 635000"/>
              <a:gd name="connsiteY4" fmla="*/ 3175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500" y="12700"/>
                </a:moveTo>
                <a:cubicBezTo>
                  <a:pt x="208542" y="12700"/>
                  <a:pt x="107871" y="70862"/>
                  <a:pt x="53447" y="165254"/>
                </a:cubicBezTo>
                <a:cubicBezTo>
                  <a:pt x="-977" y="259646"/>
                  <a:pt x="-876" y="375910"/>
                  <a:pt x="53713" y="470207"/>
                </a:cubicBezTo>
                <a:cubicBezTo>
                  <a:pt x="108302" y="564504"/>
                  <a:pt x="209074" y="622490"/>
                  <a:pt x="318032" y="622300"/>
                </a:cubicBezTo>
                <a:cubicBezTo>
                  <a:pt x="317855" y="520700"/>
                  <a:pt x="317677" y="419100"/>
                  <a:pt x="317500" y="317500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17" name="HarveyBall 774740">
            <a:extLst>
              <a:ext uri="{FF2B5EF4-FFF2-40B4-BE49-F238E27FC236}">
                <a16:creationId xmlns:a16="http://schemas.microsoft.com/office/drawing/2014/main" id="{6C1F2700-C2B6-9966-3D7B-EFC14E93438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679096" y="4892334"/>
            <a:ext cx="296321" cy="296321"/>
          </a:xfrm>
          <a:custGeom>
            <a:avLst/>
            <a:gdLst>
              <a:gd name="connsiteX0" fmla="*/ 317499 w 635000"/>
              <a:gd name="connsiteY0" fmla="*/ 12700 h 635000"/>
              <a:gd name="connsiteX1" fmla="*/ 101785 w 635000"/>
              <a:gd name="connsiteY1" fmla="*/ 102162 h 635000"/>
              <a:gd name="connsiteX2" fmla="*/ 12700 w 635000"/>
              <a:gd name="connsiteY2" fmla="*/ 318032 h 635000"/>
              <a:gd name="connsiteX3" fmla="*/ 317500 w 635000"/>
              <a:gd name="connsiteY3" fmla="*/ 317500 h 635000"/>
              <a:gd name="connsiteX4" fmla="*/ 317499 w 635000"/>
              <a:gd name="connsiteY4" fmla="*/ 127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499" y="12700"/>
                </a:moveTo>
                <a:cubicBezTo>
                  <a:pt x="236569" y="12700"/>
                  <a:pt x="158961" y="44886"/>
                  <a:pt x="101785" y="102162"/>
                </a:cubicBezTo>
                <a:cubicBezTo>
                  <a:pt x="44609" y="159438"/>
                  <a:pt x="12559" y="237102"/>
                  <a:pt x="12700" y="318032"/>
                </a:cubicBezTo>
                <a:lnTo>
                  <a:pt x="317500" y="317500"/>
                </a:lnTo>
                <a:cubicBezTo>
                  <a:pt x="317500" y="215900"/>
                  <a:pt x="317499" y="114300"/>
                  <a:pt x="317499" y="12700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18" name="HarveyBall 579519">
            <a:extLst>
              <a:ext uri="{FF2B5EF4-FFF2-40B4-BE49-F238E27FC236}">
                <a16:creationId xmlns:a16="http://schemas.microsoft.com/office/drawing/2014/main" id="{B5317D37-5D53-2234-8E47-FE657DED5E8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679096" y="4389414"/>
            <a:ext cx="296321" cy="296321"/>
          </a:xfrm>
          <a:custGeom>
            <a:avLst/>
            <a:gdLst>
              <a:gd name="connsiteX0" fmla="*/ 316968 w 635000"/>
              <a:gd name="connsiteY0" fmla="*/ 12700 h 635000"/>
              <a:gd name="connsiteX1" fmla="*/ 317500 w 635000"/>
              <a:gd name="connsiteY1" fmla="*/ 317500 h 635000"/>
              <a:gd name="connsiteX2" fmla="*/ 317500 w 635000"/>
              <a:gd name="connsiteY2" fmla="*/ 12700 h 635000"/>
              <a:gd name="connsiteX3" fmla="*/ 317500 w 635000"/>
              <a:gd name="connsiteY3" fmla="*/ 0 h 635000"/>
              <a:gd name="connsiteX4" fmla="*/ 635000 w 635000"/>
              <a:gd name="connsiteY4" fmla="*/ 317500 h 635000"/>
              <a:gd name="connsiteX5" fmla="*/ 317500 w 635000"/>
              <a:gd name="connsiteY5" fmla="*/ 635000 h 635000"/>
              <a:gd name="connsiteX6" fmla="*/ 0 w 635000"/>
              <a:gd name="connsiteY6" fmla="*/ 317500 h 635000"/>
              <a:gd name="connsiteX7" fmla="*/ 317500 w 635000"/>
              <a:gd name="connsiteY7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5000" h="635000">
                <a:moveTo>
                  <a:pt x="316968" y="12700"/>
                </a:moveTo>
                <a:cubicBezTo>
                  <a:pt x="317145" y="114300"/>
                  <a:pt x="317323" y="215900"/>
                  <a:pt x="317500" y="317500"/>
                </a:cubicBezTo>
                <a:lnTo>
                  <a:pt x="317500" y="12700"/>
                </a:ln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19" name="HarveyBall 774740">
            <a:extLst>
              <a:ext uri="{FF2B5EF4-FFF2-40B4-BE49-F238E27FC236}">
                <a16:creationId xmlns:a16="http://schemas.microsoft.com/office/drawing/2014/main" id="{0514CC7D-E522-AFA3-1966-2CBBBB422C7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679096" y="3383574"/>
            <a:ext cx="296321" cy="296321"/>
          </a:xfrm>
          <a:custGeom>
            <a:avLst/>
            <a:gdLst>
              <a:gd name="connsiteX0" fmla="*/ 317499 w 635000"/>
              <a:gd name="connsiteY0" fmla="*/ 12700 h 635000"/>
              <a:gd name="connsiteX1" fmla="*/ 101785 w 635000"/>
              <a:gd name="connsiteY1" fmla="*/ 102162 h 635000"/>
              <a:gd name="connsiteX2" fmla="*/ 12700 w 635000"/>
              <a:gd name="connsiteY2" fmla="*/ 318032 h 635000"/>
              <a:gd name="connsiteX3" fmla="*/ 317500 w 635000"/>
              <a:gd name="connsiteY3" fmla="*/ 317500 h 635000"/>
              <a:gd name="connsiteX4" fmla="*/ 317499 w 635000"/>
              <a:gd name="connsiteY4" fmla="*/ 127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499" y="12700"/>
                </a:moveTo>
                <a:cubicBezTo>
                  <a:pt x="236569" y="12700"/>
                  <a:pt x="158961" y="44886"/>
                  <a:pt x="101785" y="102162"/>
                </a:cubicBezTo>
                <a:cubicBezTo>
                  <a:pt x="44609" y="159438"/>
                  <a:pt x="12559" y="237102"/>
                  <a:pt x="12700" y="318032"/>
                </a:cubicBezTo>
                <a:lnTo>
                  <a:pt x="317500" y="317500"/>
                </a:lnTo>
                <a:cubicBezTo>
                  <a:pt x="317500" y="215900"/>
                  <a:pt x="317499" y="114300"/>
                  <a:pt x="317499" y="12700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20" name="HarveyBall 301948">
            <a:extLst>
              <a:ext uri="{FF2B5EF4-FFF2-40B4-BE49-F238E27FC236}">
                <a16:creationId xmlns:a16="http://schemas.microsoft.com/office/drawing/2014/main" id="{33366140-83B1-6370-88A8-2658B0944C3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679096" y="2377734"/>
            <a:ext cx="296321" cy="296321"/>
          </a:xfrm>
          <a:custGeom>
            <a:avLst/>
            <a:gdLst>
              <a:gd name="connsiteX0" fmla="*/ 317500 w 635000"/>
              <a:gd name="connsiteY0" fmla="*/ 12700 h 635000"/>
              <a:gd name="connsiteX1" fmla="*/ 53447 w 635000"/>
              <a:gd name="connsiteY1" fmla="*/ 165254 h 635000"/>
              <a:gd name="connsiteX2" fmla="*/ 53713 w 635000"/>
              <a:gd name="connsiteY2" fmla="*/ 470207 h 635000"/>
              <a:gd name="connsiteX3" fmla="*/ 318032 w 635000"/>
              <a:gd name="connsiteY3" fmla="*/ 622300 h 635000"/>
              <a:gd name="connsiteX4" fmla="*/ 317500 w 635000"/>
              <a:gd name="connsiteY4" fmla="*/ 3175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500" y="12700"/>
                </a:moveTo>
                <a:cubicBezTo>
                  <a:pt x="208542" y="12700"/>
                  <a:pt x="107871" y="70862"/>
                  <a:pt x="53447" y="165254"/>
                </a:cubicBezTo>
                <a:cubicBezTo>
                  <a:pt x="-977" y="259646"/>
                  <a:pt x="-876" y="375910"/>
                  <a:pt x="53713" y="470207"/>
                </a:cubicBezTo>
                <a:cubicBezTo>
                  <a:pt x="108302" y="564504"/>
                  <a:pt x="209074" y="622490"/>
                  <a:pt x="318032" y="622300"/>
                </a:cubicBezTo>
                <a:cubicBezTo>
                  <a:pt x="317855" y="520700"/>
                  <a:pt x="317677" y="419100"/>
                  <a:pt x="317500" y="317500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21" name="HarveyBall 705548">
            <a:extLst>
              <a:ext uri="{FF2B5EF4-FFF2-40B4-BE49-F238E27FC236}">
                <a16:creationId xmlns:a16="http://schemas.microsoft.com/office/drawing/2014/main" id="{FE30F5A1-0BE9-3D00-919C-8FEAB63FA08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679096" y="3886494"/>
            <a:ext cx="296321" cy="296321"/>
          </a:xfrm>
          <a:custGeom>
            <a:avLst/>
            <a:gdLst>
              <a:gd name="connsiteX0" fmla="*/ 317501 w 635000"/>
              <a:gd name="connsiteY0" fmla="*/ 12701 h 635000"/>
              <a:gd name="connsiteX1" fmla="*/ 35852 w 635000"/>
              <a:gd name="connsiteY1" fmla="*/ 200982 h 635000"/>
              <a:gd name="connsiteX2" fmla="*/ 102163 w 635000"/>
              <a:gd name="connsiteY2" fmla="*/ 533215 h 635000"/>
              <a:gd name="connsiteX3" fmla="*/ 434511 w 635000"/>
              <a:gd name="connsiteY3" fmla="*/ 598946 h 635000"/>
              <a:gd name="connsiteX4" fmla="*/ 622300 w 635000"/>
              <a:gd name="connsiteY4" fmla="*/ 316968 h 635000"/>
              <a:gd name="connsiteX5" fmla="*/ 317500 w 635000"/>
              <a:gd name="connsiteY5" fmla="*/ 317500 h 635000"/>
              <a:gd name="connsiteX6" fmla="*/ 317501 w 635000"/>
              <a:gd name="connsiteY6" fmla="*/ 12701 h 635000"/>
              <a:gd name="connsiteX7" fmla="*/ 317500 w 635000"/>
              <a:gd name="connsiteY7" fmla="*/ 0 h 635000"/>
              <a:gd name="connsiteX8" fmla="*/ 635000 w 635000"/>
              <a:gd name="connsiteY8" fmla="*/ 317500 h 635000"/>
              <a:gd name="connsiteX9" fmla="*/ 317500 w 635000"/>
              <a:gd name="connsiteY9" fmla="*/ 635000 h 635000"/>
              <a:gd name="connsiteX10" fmla="*/ 0 w 635000"/>
              <a:gd name="connsiteY10" fmla="*/ 317500 h 635000"/>
              <a:gd name="connsiteX11" fmla="*/ 317500 w 635000"/>
              <a:gd name="connsiteY11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000" h="635000">
                <a:moveTo>
                  <a:pt x="317501" y="12701"/>
                </a:moveTo>
                <a:cubicBezTo>
                  <a:pt x="194173" y="12701"/>
                  <a:pt x="82998" y="87021"/>
                  <a:pt x="35852" y="200982"/>
                </a:cubicBezTo>
                <a:cubicBezTo>
                  <a:pt x="-11294" y="314943"/>
                  <a:pt x="14881" y="446085"/>
                  <a:pt x="102163" y="533215"/>
                </a:cubicBezTo>
                <a:cubicBezTo>
                  <a:pt x="189445" y="620345"/>
                  <a:pt x="320632" y="646291"/>
                  <a:pt x="434511" y="598946"/>
                </a:cubicBezTo>
                <a:cubicBezTo>
                  <a:pt x="548390" y="551601"/>
                  <a:pt x="622515" y="440296"/>
                  <a:pt x="622300" y="316968"/>
                </a:cubicBezTo>
                <a:lnTo>
                  <a:pt x="317500" y="317500"/>
                </a:lnTo>
                <a:cubicBezTo>
                  <a:pt x="317500" y="215900"/>
                  <a:pt x="317501" y="114301"/>
                  <a:pt x="317501" y="12701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22" name="HarveyBall 774740">
            <a:extLst>
              <a:ext uri="{FF2B5EF4-FFF2-40B4-BE49-F238E27FC236}">
                <a16:creationId xmlns:a16="http://schemas.microsoft.com/office/drawing/2014/main" id="{3B5F99BE-F3E6-0A5F-E604-A788223FD05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679096" y="5395254"/>
            <a:ext cx="296321" cy="296321"/>
          </a:xfrm>
          <a:custGeom>
            <a:avLst/>
            <a:gdLst>
              <a:gd name="connsiteX0" fmla="*/ 317499 w 635000"/>
              <a:gd name="connsiteY0" fmla="*/ 12700 h 635000"/>
              <a:gd name="connsiteX1" fmla="*/ 101785 w 635000"/>
              <a:gd name="connsiteY1" fmla="*/ 102162 h 635000"/>
              <a:gd name="connsiteX2" fmla="*/ 12700 w 635000"/>
              <a:gd name="connsiteY2" fmla="*/ 318032 h 635000"/>
              <a:gd name="connsiteX3" fmla="*/ 317500 w 635000"/>
              <a:gd name="connsiteY3" fmla="*/ 317500 h 635000"/>
              <a:gd name="connsiteX4" fmla="*/ 317499 w 635000"/>
              <a:gd name="connsiteY4" fmla="*/ 127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499" y="12700"/>
                </a:moveTo>
                <a:cubicBezTo>
                  <a:pt x="236569" y="12700"/>
                  <a:pt x="158961" y="44886"/>
                  <a:pt x="101785" y="102162"/>
                </a:cubicBezTo>
                <a:cubicBezTo>
                  <a:pt x="44609" y="159438"/>
                  <a:pt x="12559" y="237102"/>
                  <a:pt x="12700" y="318032"/>
                </a:cubicBezTo>
                <a:lnTo>
                  <a:pt x="317500" y="317500"/>
                </a:lnTo>
                <a:cubicBezTo>
                  <a:pt x="317500" y="215900"/>
                  <a:pt x="317499" y="114300"/>
                  <a:pt x="317499" y="12700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2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7E28-5B55-CE33-6467-4F7290C5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assessment – Matrix view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52258-C059-7FAF-A509-DF37EC7B5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E57CE-FB7D-628D-6D84-C2E74F5C5C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2A262-A386-40F3-4108-1C05891BB3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B696CC-9393-00CE-837B-5740A9107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084381"/>
              </p:ext>
            </p:extLst>
          </p:nvPr>
        </p:nvGraphicFramePr>
        <p:xfrm>
          <a:off x="554734" y="1400674"/>
          <a:ext cx="4908806" cy="490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59">
                  <a:extLst>
                    <a:ext uri="{9D8B030D-6E8A-4147-A177-3AD203B41FA5}">
                      <a16:colId xmlns:a16="http://schemas.microsoft.com/office/drawing/2014/main" val="3192626996"/>
                    </a:ext>
                  </a:extLst>
                </a:gridCol>
                <a:gridCol w="3489447">
                  <a:extLst>
                    <a:ext uri="{9D8B030D-6E8A-4147-A177-3AD203B41FA5}">
                      <a16:colId xmlns:a16="http://schemas.microsoft.com/office/drawing/2014/main" val="1541287817"/>
                    </a:ext>
                  </a:extLst>
                </a:gridCol>
              </a:tblGrid>
              <a:tr h="46861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 marT="64008" marB="6400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 marT="64008" marB="6400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78854"/>
                  </a:ext>
                </a:extLst>
              </a:tr>
              <a:tr h="493054"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[Category (i.e., type or group of strategic option)]</a:t>
                      </a:r>
                      <a:endParaRPr lang="en-CA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4008" marB="6400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465509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1.2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75127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19767"/>
                  </a:ext>
                </a:extLst>
              </a:tr>
              <a:tr h="49305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[Category (i.e., type or group of strategic option)]</a:t>
                      </a:r>
                      <a:endParaRPr lang="en-CA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T="64008" marB="6400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2.1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48203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69899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2.3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15872"/>
                  </a:ext>
                </a:extLst>
              </a:tr>
              <a:tr h="49305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3.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[Category (i.e., type or group of strategic option)]</a:t>
                      </a:r>
                      <a:endParaRPr lang="en-CA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3.1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67862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3.2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92999"/>
                  </a:ext>
                </a:extLst>
              </a:tr>
              <a:tr h="493054">
                <a:tc vMerge="1">
                  <a:txBody>
                    <a:bodyPr/>
                    <a:lstStyle/>
                    <a:p>
                      <a:endParaRPr lang="en-CA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3.3 [Option] – 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[Description of the option]</a:t>
                      </a:r>
                    </a:p>
                  </a:txBody>
                  <a:tcPr marT="64008" marB="6400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81384"/>
                  </a:ext>
                </a:extLst>
              </a:tr>
            </a:tbl>
          </a:graphicData>
        </a:graphic>
      </p:graphicFrame>
      <p:pic>
        <p:nvPicPr>
          <p:cNvPr id="11" name="Graphic 10" descr="Caret Up with solid fill">
            <a:extLst>
              <a:ext uri="{FF2B5EF4-FFF2-40B4-BE49-F238E27FC236}">
                <a16:creationId xmlns:a16="http://schemas.microsoft.com/office/drawing/2014/main" id="{FA815802-8567-7519-626F-83F687C25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748630" y="3722833"/>
            <a:ext cx="755703" cy="75570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7CD348E-851F-7A02-6CE8-623A0008AF4E}"/>
              </a:ext>
            </a:extLst>
          </p:cNvPr>
          <p:cNvGraphicFramePr>
            <a:graphicFrameLocks noGrp="1"/>
          </p:cNvGraphicFramePr>
          <p:nvPr/>
        </p:nvGraphicFramePr>
        <p:xfrm>
          <a:off x="6789422" y="1400674"/>
          <a:ext cx="4847839" cy="48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7839">
                  <a:extLst>
                    <a:ext uri="{9D8B030D-6E8A-4147-A177-3AD203B41FA5}">
                      <a16:colId xmlns:a16="http://schemas.microsoft.com/office/drawing/2014/main" val="3192626996"/>
                    </a:ext>
                  </a:extLst>
                </a:gridCol>
              </a:tblGrid>
              <a:tr h="468610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b="1" i="0" u="none" strike="noStrike" kern="1200" cap="none" spc="0" normalizeH="0" baseline="0" dirty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  <a:sym typeface=""/>
                        </a:rPr>
                        <a:t>ASSESSMENT MATRIX</a:t>
                      </a:r>
                      <a:endParaRPr lang="en-CA" sz="1400" b="1" i="0" u="none" strike="noStrike" kern="1200" cap="none" spc="0" normalizeH="0" baseline="0" dirty="0">
                        <a:solidFill>
                          <a:schemeClr val="tx1">
                            <a:lumMod val="100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  <a:sym typeface=""/>
                      </a:endParaRPr>
                    </a:p>
                  </a:txBody>
                  <a:tcPr marT="64008" marB="64008"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78854"/>
                  </a:ext>
                </a:extLst>
              </a:tr>
              <a:tr h="4417216">
                <a:tc>
                  <a:txBody>
                    <a:bodyPr/>
                    <a:lstStyle/>
                    <a:p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 marT="64008" marB="64008" anchor="ctr">
                    <a:lnT w="12700" cap="flat" cmpd="sng" algn="ctr">
                      <a:solidFill>
                        <a:schemeClr val="tx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80131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63CEDF89-6858-EBD1-08C0-12C633D2E91E}"/>
              </a:ext>
            </a:extLst>
          </p:cNvPr>
          <p:cNvGrpSpPr/>
          <p:nvPr/>
        </p:nvGrpSpPr>
        <p:grpSpPr>
          <a:xfrm>
            <a:off x="7155942" y="2271884"/>
            <a:ext cx="4114800" cy="3657600"/>
            <a:chOff x="7063268" y="2271884"/>
            <a:chExt cx="4114800" cy="36576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17B7234-28D6-F41B-8532-9140FE08B978}"/>
                </a:ext>
              </a:extLst>
            </p:cNvPr>
            <p:cNvCxnSpPr>
              <a:cxnSpLocks/>
            </p:cNvCxnSpPr>
            <p:nvPr/>
          </p:nvCxnSpPr>
          <p:spPr>
            <a:xfrm>
              <a:off x="9120668" y="2271884"/>
              <a:ext cx="0" cy="365760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9C2BDC-7211-AC3E-BCC5-2158F5BF1904}"/>
                </a:ext>
              </a:extLst>
            </p:cNvPr>
            <p:cNvCxnSpPr>
              <a:cxnSpLocks/>
            </p:cNvCxnSpPr>
            <p:nvPr/>
          </p:nvCxnSpPr>
          <p:spPr>
            <a:xfrm>
              <a:off x="7063268" y="4100684"/>
              <a:ext cx="41148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139FEF03-F566-E954-B7CE-1538030F3CDA}"/>
              </a:ext>
            </a:extLst>
          </p:cNvPr>
          <p:cNvSpPr>
            <a:spLocks noChangeAspect="1"/>
          </p:cNvSpPr>
          <p:nvPr/>
        </p:nvSpPr>
        <p:spPr>
          <a:xfrm>
            <a:off x="7451960" y="4741051"/>
            <a:ext cx="356400" cy="356400"/>
          </a:xfrm>
          <a:prstGeom prst="ellipse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latin typeface="Aptos" panose="020B0004020202020204" pitchFamily="34" charset="0"/>
              </a:rPr>
              <a:t>1.1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489D15F-86FF-AC38-46B0-86E20703CB68}"/>
              </a:ext>
            </a:extLst>
          </p:cNvPr>
          <p:cNvSpPr>
            <a:spLocks noChangeAspect="1"/>
          </p:cNvSpPr>
          <p:nvPr/>
        </p:nvSpPr>
        <p:spPr>
          <a:xfrm>
            <a:off x="7867706" y="4976443"/>
            <a:ext cx="356400" cy="356400"/>
          </a:xfrm>
          <a:prstGeom prst="ellipse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latin typeface="Aptos" panose="020B0004020202020204" pitchFamily="34" charset="0"/>
              </a:rPr>
              <a:t>1.2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83D66A8-9C3A-04A7-29A1-5E59EA70724A}"/>
              </a:ext>
            </a:extLst>
          </p:cNvPr>
          <p:cNvSpPr>
            <a:spLocks noChangeAspect="1"/>
          </p:cNvSpPr>
          <p:nvPr/>
        </p:nvSpPr>
        <p:spPr>
          <a:xfrm>
            <a:off x="7602333" y="3049074"/>
            <a:ext cx="356400" cy="356400"/>
          </a:xfrm>
          <a:prstGeom prst="ellipse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latin typeface="Aptos" panose="020B0004020202020204" pitchFamily="34" charset="0"/>
              </a:rPr>
              <a:t>1.3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D1F1FC-6DA9-429F-DB1F-17997B874300}"/>
              </a:ext>
            </a:extLst>
          </p:cNvPr>
          <p:cNvSpPr>
            <a:spLocks noChangeAspect="1"/>
          </p:cNvSpPr>
          <p:nvPr/>
        </p:nvSpPr>
        <p:spPr>
          <a:xfrm>
            <a:off x="8619396" y="4478536"/>
            <a:ext cx="356400" cy="356400"/>
          </a:xfrm>
          <a:prstGeom prst="ellipse">
            <a:avLst/>
          </a:prstGeom>
          <a:solidFill>
            <a:schemeClr val="accent5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2.1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3DE144F-1B38-2A25-B6D1-88EB0B51D754}"/>
              </a:ext>
            </a:extLst>
          </p:cNvPr>
          <p:cNvSpPr>
            <a:spLocks noChangeAspect="1"/>
          </p:cNvSpPr>
          <p:nvPr/>
        </p:nvSpPr>
        <p:spPr>
          <a:xfrm>
            <a:off x="9642487" y="3429000"/>
            <a:ext cx="356400" cy="356400"/>
          </a:xfrm>
          <a:prstGeom prst="ellipse">
            <a:avLst/>
          </a:prstGeom>
          <a:solidFill>
            <a:schemeClr val="accent5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2.2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AB7011C-35CF-3210-BF8B-2A990E9D8BC8}"/>
              </a:ext>
            </a:extLst>
          </p:cNvPr>
          <p:cNvSpPr>
            <a:spLocks noChangeAspect="1"/>
          </p:cNvSpPr>
          <p:nvPr/>
        </p:nvSpPr>
        <p:spPr>
          <a:xfrm>
            <a:off x="8286897" y="3155149"/>
            <a:ext cx="356400" cy="356400"/>
          </a:xfrm>
          <a:prstGeom prst="ellipse">
            <a:avLst/>
          </a:prstGeom>
          <a:solidFill>
            <a:schemeClr val="accent5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2.3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CBA45E5-B8A0-B2A2-4134-68AD4D29831C}"/>
              </a:ext>
            </a:extLst>
          </p:cNvPr>
          <p:cNvSpPr>
            <a:spLocks noChangeAspect="1"/>
          </p:cNvSpPr>
          <p:nvPr/>
        </p:nvSpPr>
        <p:spPr>
          <a:xfrm>
            <a:off x="10361025" y="3035229"/>
            <a:ext cx="356400" cy="356400"/>
          </a:xfrm>
          <a:prstGeom prst="ellipse">
            <a:avLst/>
          </a:prstGeom>
          <a:solidFill>
            <a:schemeClr val="tx1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3.1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143723-6D7E-AD83-7607-5E6B16CBBC13}"/>
              </a:ext>
            </a:extLst>
          </p:cNvPr>
          <p:cNvSpPr>
            <a:spLocks noChangeAspect="1"/>
          </p:cNvSpPr>
          <p:nvPr/>
        </p:nvSpPr>
        <p:spPr>
          <a:xfrm>
            <a:off x="9963312" y="5043832"/>
            <a:ext cx="356400" cy="356400"/>
          </a:xfrm>
          <a:prstGeom prst="ellipse">
            <a:avLst/>
          </a:prstGeom>
          <a:solidFill>
            <a:schemeClr val="tx1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3.2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C571F1-93FB-6472-3D4B-B14135E3AE44}"/>
              </a:ext>
            </a:extLst>
          </p:cNvPr>
          <p:cNvSpPr>
            <a:spLocks noChangeAspect="1"/>
          </p:cNvSpPr>
          <p:nvPr/>
        </p:nvSpPr>
        <p:spPr>
          <a:xfrm>
            <a:off x="10182825" y="2622937"/>
            <a:ext cx="356400" cy="356400"/>
          </a:xfrm>
          <a:prstGeom prst="ellipse">
            <a:avLst/>
          </a:prstGeom>
          <a:solidFill>
            <a:schemeClr val="tx1"/>
          </a:solidFill>
          <a:ln w="1079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kern="0" dirty="0">
                <a:solidFill>
                  <a:schemeClr val="lt1"/>
                </a:solidFill>
                <a:latin typeface="Aptos" panose="020B0004020202020204" pitchFamily="34" charset="0"/>
              </a:rPr>
              <a:t>3.3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C9B4AD-3D69-9FCF-CE61-77793A3DA8E1}"/>
              </a:ext>
            </a:extLst>
          </p:cNvPr>
          <p:cNvSpPr/>
          <p:nvPr/>
        </p:nvSpPr>
        <p:spPr bwMode="gray">
          <a:xfrm>
            <a:off x="10102864" y="4122759"/>
            <a:ext cx="1221650" cy="1687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More [something]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527BD4-CE33-5CF3-6D95-B28D93CA277B}"/>
              </a:ext>
            </a:extLst>
          </p:cNvPr>
          <p:cNvSpPr/>
          <p:nvPr/>
        </p:nvSpPr>
        <p:spPr bwMode="gray">
          <a:xfrm>
            <a:off x="7102171" y="4122759"/>
            <a:ext cx="1221650" cy="1687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Less [something]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31224E-A05D-91CC-736A-397475613815}"/>
              </a:ext>
            </a:extLst>
          </p:cNvPr>
          <p:cNvSpPr/>
          <p:nvPr/>
        </p:nvSpPr>
        <p:spPr bwMode="gray">
          <a:xfrm>
            <a:off x="8596175" y="5954997"/>
            <a:ext cx="1221650" cy="1687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Less [something]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20B8BA-E99C-5702-5C1D-F2BD70C1E39D}"/>
              </a:ext>
            </a:extLst>
          </p:cNvPr>
          <p:cNvSpPr/>
          <p:nvPr/>
        </p:nvSpPr>
        <p:spPr bwMode="gray">
          <a:xfrm>
            <a:off x="8596175" y="2071710"/>
            <a:ext cx="1221650" cy="1687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More [something]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ABCF-7FE9-A2F5-429C-39848E23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E095-0B5A-7C2B-3965-44D2D075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evaluation – Overview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87BE9-FE97-1F2B-EC6C-6D750CB21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5" y="929430"/>
            <a:ext cx="11082528" cy="276999"/>
          </a:xfrm>
        </p:spPr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9D462-83FE-22B6-BF5B-044163FCAA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8643C-8187-F6C2-24D7-4650E32B18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4735" y="6499381"/>
            <a:ext cx="7982873" cy="138499"/>
          </a:xfrm>
        </p:spPr>
        <p:txBody>
          <a:bodyPr/>
          <a:lstStyle/>
          <a:p>
            <a:endParaRPr lang="en-CA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3A5E5F-150A-D8D8-4896-61B764E752A7}"/>
              </a:ext>
            </a:extLst>
          </p:cNvPr>
          <p:cNvGraphicFramePr>
            <a:graphicFrameLocks noGrp="1"/>
          </p:cNvGraphicFramePr>
          <p:nvPr/>
        </p:nvGraphicFramePr>
        <p:xfrm>
          <a:off x="554734" y="1424953"/>
          <a:ext cx="11082527" cy="458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6">
                  <a:extLst>
                    <a:ext uri="{9D8B030D-6E8A-4147-A177-3AD203B41FA5}">
                      <a16:colId xmlns:a16="http://schemas.microsoft.com/office/drawing/2014/main" val="1541287817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180731177"/>
                    </a:ext>
                  </a:extLst>
                </a:gridCol>
                <a:gridCol w="2964180">
                  <a:extLst>
                    <a:ext uri="{9D8B030D-6E8A-4147-A177-3AD203B41FA5}">
                      <a16:colId xmlns:a16="http://schemas.microsoft.com/office/drawing/2014/main" val="4088275203"/>
                    </a:ext>
                  </a:extLst>
                </a:gridCol>
                <a:gridCol w="1190241">
                  <a:extLst>
                    <a:ext uri="{9D8B030D-6E8A-4147-A177-3AD203B41FA5}">
                      <a16:colId xmlns:a16="http://schemas.microsoft.com/office/drawing/2014/main" val="3661583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Competitor</a:t>
                      </a:r>
                      <a:endParaRPr lang="en-CA" sz="1400" dirty="0"/>
                    </a:p>
                  </a:txBody>
                  <a:tcPr marT="108000" marB="10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  <a:endParaRPr lang="en-CA" sz="1400" dirty="0"/>
                    </a:p>
                  </a:txBody>
                  <a:tcPr marT="108000" marB="10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Revenue and profit ([unit])</a:t>
                      </a:r>
                      <a:endParaRPr lang="en-CA" sz="1400" dirty="0"/>
                    </a:p>
                  </a:txBody>
                  <a:tcPr marT="108000" marB="10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CAGR</a:t>
                      </a:r>
                      <a:endParaRPr lang="en-CA" sz="1400" dirty="0"/>
                    </a:p>
                  </a:txBody>
                  <a:tcPr marT="108000" marB="10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87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46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7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19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4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6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[Competitor name]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44000"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[Competitor description 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– this is placeholder text to replace – this is placeholder text to replace – this is placeholder text to replace – this is placeholder text to replace</a:t>
                      </a:r>
                      <a:r>
                        <a:rPr lang="en-US" sz="1200" i="0" dirty="0"/>
                        <a:t>]</a:t>
                      </a:r>
                      <a:endParaRPr lang="en-CA" sz="1200" i="0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i="1" dirty="0"/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1B1B1D"/>
                          </a:solidFill>
                          <a:latin typeface="Aptos" panose="020B0004020202020204" pitchFamily="34" charset="0"/>
                        </a:rPr>
                        <a:t>~[##] %</a:t>
                      </a:r>
                    </a:p>
                  </a:txBody>
                  <a:tcPr marT="72000" marB="72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1587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35C841-4E41-5478-D3E7-B2D9724DB246}"/>
              </a:ext>
            </a:extLst>
          </p:cNvPr>
          <p:cNvSpPr/>
          <p:nvPr/>
        </p:nvSpPr>
        <p:spPr>
          <a:xfrm>
            <a:off x="715517" y="2039126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D74F3742-2594-54A0-96CF-32FB0525E655}"/>
              </a:ext>
            </a:extLst>
          </p:cNvPr>
          <p:cNvGraphicFramePr>
            <a:graphicFrameLocks/>
          </p:cNvGraphicFramePr>
          <p:nvPr/>
        </p:nvGraphicFramePr>
        <p:xfrm>
          <a:off x="7474697" y="1805940"/>
          <a:ext cx="2918984" cy="4204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C5F12D-2FFC-2EA1-727D-ABA22C0669F1}"/>
              </a:ext>
            </a:extLst>
          </p:cNvPr>
          <p:cNvSpPr/>
          <p:nvPr/>
        </p:nvSpPr>
        <p:spPr>
          <a:xfrm>
            <a:off x="715517" y="2731766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325108-90E6-F274-2E30-985DB4B5F2A2}"/>
              </a:ext>
            </a:extLst>
          </p:cNvPr>
          <p:cNvSpPr/>
          <p:nvPr/>
        </p:nvSpPr>
        <p:spPr>
          <a:xfrm>
            <a:off x="715517" y="3424406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6E9B56-6A11-591F-1307-3FB788A8519E}"/>
              </a:ext>
            </a:extLst>
          </p:cNvPr>
          <p:cNvSpPr/>
          <p:nvPr/>
        </p:nvSpPr>
        <p:spPr>
          <a:xfrm>
            <a:off x="715517" y="4117046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B22C374-BCF3-C529-1B20-E792FB66F0BB}"/>
              </a:ext>
            </a:extLst>
          </p:cNvPr>
          <p:cNvSpPr/>
          <p:nvPr/>
        </p:nvSpPr>
        <p:spPr>
          <a:xfrm>
            <a:off x="715517" y="4809685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128AA4-6493-6F47-A0BF-C64A66C631C5}"/>
              </a:ext>
            </a:extLst>
          </p:cNvPr>
          <p:cNvSpPr/>
          <p:nvPr/>
        </p:nvSpPr>
        <p:spPr>
          <a:xfrm>
            <a:off x="715517" y="5502325"/>
            <a:ext cx="739140" cy="323014"/>
          </a:xfrm>
          <a:prstGeom prst="round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Logo</a:t>
            </a:r>
            <a:endParaRPr lang="en-CA" sz="1200" b="1" dirty="0" err="1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70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CC23-2AEC-1FC8-3ACE-00BCF9AB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evaluation – Matrix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5CD63-6D7E-239F-F3C3-3509A83BD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929430"/>
            <a:ext cx="11082528" cy="27699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7075F-0F82-2D8B-F292-EEED867B0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A3E56-B668-AEFA-1CBE-8AFDC7AE9C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D37DE9-6489-9307-2400-F680C4DC9B65}"/>
              </a:ext>
            </a:extLst>
          </p:cNvPr>
          <p:cNvSpPr/>
          <p:nvPr/>
        </p:nvSpPr>
        <p:spPr>
          <a:xfrm>
            <a:off x="541897" y="1513840"/>
            <a:ext cx="8091554" cy="4673600"/>
          </a:xfrm>
          <a:prstGeom prst="rect">
            <a:avLst/>
          </a:prstGeom>
          <a:solidFill>
            <a:schemeClr val="lt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A85BE-3A2C-B48C-1900-7AC1F3F78C97}"/>
              </a:ext>
            </a:extLst>
          </p:cNvPr>
          <p:cNvSpPr/>
          <p:nvPr/>
        </p:nvSpPr>
        <p:spPr>
          <a:xfrm>
            <a:off x="540589" y="1514475"/>
            <a:ext cx="8091555" cy="40005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</a:rPr>
              <a:t>[Chart title and description]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B0EE7-D2AE-4A3E-F14C-F07807A5B8B3}"/>
              </a:ext>
            </a:extLst>
          </p:cNvPr>
          <p:cNvSpPr/>
          <p:nvPr/>
        </p:nvSpPr>
        <p:spPr>
          <a:xfrm>
            <a:off x="8780663" y="1914525"/>
            <a:ext cx="2856601" cy="4273072"/>
          </a:xfrm>
          <a:prstGeom prst="rect">
            <a:avLst/>
          </a:prstGeom>
          <a:solidFill>
            <a:schemeClr val="lt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182880" marR="0" lvl="0" indent="-182880" defTabSz="914400" eaLnBrk="1" fontAlgn="auto" latinLnBrk="0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82880" indent="-18288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82880" indent="-18288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82880" indent="-18288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27206C-4B2B-FB05-A408-F99AFB022C94}"/>
              </a:ext>
            </a:extLst>
          </p:cNvPr>
          <p:cNvSpPr/>
          <p:nvPr/>
        </p:nvSpPr>
        <p:spPr>
          <a:xfrm>
            <a:off x="8780663" y="1513840"/>
            <a:ext cx="2856601" cy="40128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</a:rPr>
              <a:t>Key takeaways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5531E3B-CA79-D649-43D9-C20E4C091E86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053961" y="2254250"/>
          <a:ext cx="7254875" cy="3511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E0A070-0D70-83DD-0608-5C481AE1A26B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4797286" y="2366963"/>
            <a:ext cx="0" cy="3070225"/>
          </a:xfrm>
          <a:prstGeom prst="line">
            <a:avLst/>
          </a:prstGeom>
          <a:noFill/>
          <a:ln w="12700" cap="flat" cmpd="sng" algn="ctr">
            <a:solidFill>
              <a:schemeClr val="dk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1F9E27-DCFE-3CEF-05BE-99204D5C191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601649" y="3978275"/>
            <a:ext cx="6391275" cy="0"/>
          </a:xfrm>
          <a:prstGeom prst="line">
            <a:avLst/>
          </a:prstGeom>
          <a:noFill/>
          <a:ln w="12700" cap="flat" cmpd="sng" algn="ctr">
            <a:solidFill>
              <a:schemeClr val="dk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2DFB7D3-044B-C849-07DA-30F4FA39BD7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573200" y="4740275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Competitor 1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5D271DE-BA60-FAA9-B86D-9C77214A083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858699" y="3475038"/>
            <a:ext cx="1651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AB86134-C743-4139-8611-BE384B91661B}" type="datetime'G''''r''o''w''''''''t''h'''''''''''''' Ra''''''''t''''''e'''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Growth Rate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61BB48D-D169-F897-33F4-95E0EF33E1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6054587" y="3205163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Client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28D18BF-C478-2B09-AECB-025428AFFB9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256075" y="4049713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ptos"/>
              </a:rPr>
              <a:t>Competitor 5</a:t>
            </a:r>
          </a:p>
        </p:txBody>
      </p:sp>
      <p:sp useBgFill="1">
        <p:nvSpPr>
          <p:cNvPr id="18" name="Text Placeholder 2">
            <a:extLst>
              <a:ext uri="{FF2B5EF4-FFF2-40B4-BE49-F238E27FC236}">
                <a16:creationId xmlns:a16="http://schemas.microsoft.com/office/drawing/2014/main" id="{8B8A9282-C212-2693-D037-E9A8BC07F3C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4171812" y="4740275"/>
            <a:ext cx="779463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ptos"/>
              </a:rPr>
              <a:t>Competitor 3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052076B-4B2F-2309-55A1-53FD66C8C0F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7195999" y="4433888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ptos"/>
              </a:rPr>
              <a:t>Competitor 7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7155A11-F4DD-3A9C-D5E3-552F20BE810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3714612" y="3665538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ptos"/>
              </a:rPr>
              <a:t>Competitor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E3EA20-D2D4-BFDD-AC5E-535DE788B36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395649" y="5838825"/>
            <a:ext cx="803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5D0F6B4-8528-42FE-91EE-432617F19C4A}" type="datetime'''Marke''''t'''' ''''''''''''''''''''''S''''''iz''''''e'''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Market Size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 useBgFill="1">
        <p:nvSpPr>
          <p:cNvPr id="22" name="Text Placeholder 2">
            <a:extLst>
              <a:ext uri="{FF2B5EF4-FFF2-40B4-BE49-F238E27FC236}">
                <a16:creationId xmlns:a16="http://schemas.microsoft.com/office/drawing/2014/main" id="{BB9154AA-CE24-B419-4E76-0E253A71E8B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4741725" y="2744788"/>
            <a:ext cx="779463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ptos"/>
              </a:rPr>
              <a:t>Competitor 6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1D683EC-5565-EF04-F976-E816B75C40D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657462" y="4279900"/>
            <a:ext cx="7794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Competitor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87E89B-E1C0-9F67-AE72-9E482177A7EE}"/>
              </a:ext>
            </a:extLst>
          </p:cNvPr>
          <p:cNvSpPr/>
          <p:nvPr/>
        </p:nvSpPr>
        <p:spPr>
          <a:xfrm>
            <a:off x="1609271" y="5170934"/>
            <a:ext cx="2544210" cy="28665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Small, low growth markets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1163F4-A69F-752C-B3E3-C7B5DEBD4D0E}"/>
              </a:ext>
            </a:extLst>
          </p:cNvPr>
          <p:cNvSpPr/>
          <p:nvPr/>
        </p:nvSpPr>
        <p:spPr>
          <a:xfrm>
            <a:off x="1601649" y="2374334"/>
            <a:ext cx="2544210" cy="28537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Small, high growth markets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9FB037-77BF-A25B-50F9-8FCA4C5198E7}"/>
              </a:ext>
            </a:extLst>
          </p:cNvPr>
          <p:cNvSpPr/>
          <p:nvPr/>
        </p:nvSpPr>
        <p:spPr>
          <a:xfrm>
            <a:off x="5448714" y="5170934"/>
            <a:ext cx="2544210" cy="28665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Large, low growth markets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933C6D-BC9A-5983-1014-CFA7F594A8E1}"/>
              </a:ext>
            </a:extLst>
          </p:cNvPr>
          <p:cNvSpPr/>
          <p:nvPr/>
        </p:nvSpPr>
        <p:spPr>
          <a:xfrm>
            <a:off x="5441092" y="2377685"/>
            <a:ext cx="2544210" cy="28537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Large, high growth markets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AD9EC7-6DF8-A808-CC8C-0E367ECEB226}"/>
              </a:ext>
            </a:extLst>
          </p:cNvPr>
          <p:cNvSpPr/>
          <p:nvPr/>
        </p:nvSpPr>
        <p:spPr>
          <a:xfrm>
            <a:off x="5834931" y="3118674"/>
            <a:ext cx="1149676" cy="328235"/>
          </a:xfrm>
          <a:prstGeom prst="rect">
            <a:avLst/>
          </a:prstGeom>
          <a:noFill/>
          <a:ln w="15875" cap="sq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29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7C99E-F8BB-36C1-003A-0E7C36BC0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42C0-DA44-22C3-3CF6-461DEBD2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overview – Arrows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15727-7D6A-51AC-C197-ADFCFF646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9468B-1486-6831-6E9E-048490D060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E058C-F14D-3889-1ACE-0BA2831CBE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95C939-C8FC-B548-6320-C716249AB3AA}"/>
              </a:ext>
            </a:extLst>
          </p:cNvPr>
          <p:cNvSpPr/>
          <p:nvPr/>
        </p:nvSpPr>
        <p:spPr>
          <a:xfrm>
            <a:off x="2678653" y="3767765"/>
            <a:ext cx="18719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[Process step 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[Description of the process step activities and value – this is placeholder text to replace – this is placeholder text to replace –this is placeholder text to replace]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189DF2-7006-B747-26AF-FB8B6C336ACA}"/>
              </a:ext>
            </a:extLst>
          </p:cNvPr>
          <p:cNvSpPr txBox="1"/>
          <p:nvPr/>
        </p:nvSpPr>
        <p:spPr>
          <a:xfrm>
            <a:off x="3091077" y="3046691"/>
            <a:ext cx="385737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0" name="Diagonal Stripe 29">
            <a:extLst>
              <a:ext uri="{FF2B5EF4-FFF2-40B4-BE49-F238E27FC236}">
                <a16:creationId xmlns:a16="http://schemas.microsoft.com/office/drawing/2014/main" id="{40E2E0A9-6F50-E795-D889-C18B66257569}"/>
              </a:ext>
            </a:extLst>
          </p:cNvPr>
          <p:cNvSpPr/>
          <p:nvPr/>
        </p:nvSpPr>
        <p:spPr>
          <a:xfrm>
            <a:off x="1578908" y="3205659"/>
            <a:ext cx="1512168" cy="1512168"/>
          </a:xfrm>
          <a:prstGeom prst="diagStrip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Diagonal Stripe 30">
            <a:extLst>
              <a:ext uri="{FF2B5EF4-FFF2-40B4-BE49-F238E27FC236}">
                <a16:creationId xmlns:a16="http://schemas.microsoft.com/office/drawing/2014/main" id="{373A42BA-EF4C-3639-AB68-4D6E3C509E7E}"/>
              </a:ext>
            </a:extLst>
          </p:cNvPr>
          <p:cNvSpPr/>
          <p:nvPr/>
        </p:nvSpPr>
        <p:spPr>
          <a:xfrm flipV="1">
            <a:off x="1578908" y="1625815"/>
            <a:ext cx="1512168" cy="1512168"/>
          </a:xfrm>
          <a:prstGeom prst="diagStrip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6" name="Group 740">
            <a:extLst>
              <a:ext uri="{FF2B5EF4-FFF2-40B4-BE49-F238E27FC236}">
                <a16:creationId xmlns:a16="http://schemas.microsoft.com/office/drawing/2014/main" id="{B8318C06-C1B5-9000-8C49-F02911C74C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72924" y="2847350"/>
            <a:ext cx="630173" cy="632026"/>
            <a:chOff x="4293" y="2651"/>
            <a:chExt cx="340" cy="341"/>
          </a:xfrm>
          <a:solidFill>
            <a:schemeClr val="accent4"/>
          </a:solidFill>
        </p:grpSpPr>
        <p:sp>
          <p:nvSpPr>
            <p:cNvPr id="37" name="Freeform 741">
              <a:extLst>
                <a:ext uri="{FF2B5EF4-FFF2-40B4-BE49-F238E27FC236}">
                  <a16:creationId xmlns:a16="http://schemas.microsoft.com/office/drawing/2014/main" id="{FEC29EC4-E643-45D0-E7E6-3872F454F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3" y="2651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Freeform 742">
              <a:extLst>
                <a:ext uri="{FF2B5EF4-FFF2-40B4-BE49-F238E27FC236}">
                  <a16:creationId xmlns:a16="http://schemas.microsoft.com/office/drawing/2014/main" id="{E9CDC1EF-77A3-FD60-31A4-1C949F166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7" y="2743"/>
              <a:ext cx="212" cy="156"/>
            </a:xfrm>
            <a:custGeom>
              <a:avLst/>
              <a:gdLst>
                <a:gd name="T0" fmla="*/ 224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224 w 320"/>
                <a:gd name="T11" fmla="*/ 0 h 235"/>
                <a:gd name="T12" fmla="*/ 234 w 320"/>
                <a:gd name="T13" fmla="*/ 11 h 235"/>
                <a:gd name="T14" fmla="*/ 234 w 320"/>
                <a:gd name="T15" fmla="*/ 58 h 235"/>
                <a:gd name="T16" fmla="*/ 304 w 320"/>
                <a:gd name="T17" fmla="*/ 23 h 235"/>
                <a:gd name="T18" fmla="*/ 315 w 320"/>
                <a:gd name="T19" fmla="*/ 23 h 235"/>
                <a:gd name="T20" fmla="*/ 320 w 320"/>
                <a:gd name="T21" fmla="*/ 32 h 235"/>
                <a:gd name="T22" fmla="*/ 320 w 320"/>
                <a:gd name="T23" fmla="*/ 203 h 235"/>
                <a:gd name="T24" fmla="*/ 315 w 320"/>
                <a:gd name="T25" fmla="*/ 212 h 235"/>
                <a:gd name="T26" fmla="*/ 304 w 320"/>
                <a:gd name="T27" fmla="*/ 213 h 235"/>
                <a:gd name="T28" fmla="*/ 234 w 320"/>
                <a:gd name="T29" fmla="*/ 178 h 235"/>
                <a:gd name="T30" fmla="*/ 234 w 320"/>
                <a:gd name="T31" fmla="*/ 224 h 235"/>
                <a:gd name="T32" fmla="*/ 224 w 320"/>
                <a:gd name="T33" fmla="*/ 235 h 235"/>
                <a:gd name="T34" fmla="*/ 21 w 320"/>
                <a:gd name="T35" fmla="*/ 214 h 235"/>
                <a:gd name="T36" fmla="*/ 213 w 320"/>
                <a:gd name="T37" fmla="*/ 214 h 235"/>
                <a:gd name="T38" fmla="*/ 213 w 320"/>
                <a:gd name="T39" fmla="*/ 160 h 235"/>
                <a:gd name="T40" fmla="*/ 218 w 320"/>
                <a:gd name="T41" fmla="*/ 151 h 235"/>
                <a:gd name="T42" fmla="*/ 228 w 320"/>
                <a:gd name="T43" fmla="*/ 151 h 235"/>
                <a:gd name="T44" fmla="*/ 298 w 320"/>
                <a:gd name="T45" fmla="*/ 186 h 235"/>
                <a:gd name="T46" fmla="*/ 298 w 320"/>
                <a:gd name="T47" fmla="*/ 50 h 235"/>
                <a:gd name="T48" fmla="*/ 228 w 320"/>
                <a:gd name="T49" fmla="*/ 85 h 235"/>
                <a:gd name="T50" fmla="*/ 218 w 320"/>
                <a:gd name="T51" fmla="*/ 84 h 235"/>
                <a:gd name="T52" fmla="*/ 213 w 320"/>
                <a:gd name="T53" fmla="*/ 75 h 235"/>
                <a:gd name="T54" fmla="*/ 213 w 320"/>
                <a:gd name="T55" fmla="*/ 22 h 235"/>
                <a:gd name="T56" fmla="*/ 21 w 320"/>
                <a:gd name="T57" fmla="*/ 22 h 235"/>
                <a:gd name="T58" fmla="*/ 21 w 320"/>
                <a:gd name="T5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0" h="235">
                  <a:moveTo>
                    <a:pt x="224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0" y="0"/>
                    <a:pt x="234" y="5"/>
                    <a:pt x="234" y="11"/>
                  </a:cubicBezTo>
                  <a:cubicBezTo>
                    <a:pt x="234" y="58"/>
                    <a:pt x="234" y="58"/>
                    <a:pt x="234" y="58"/>
                  </a:cubicBezTo>
                  <a:cubicBezTo>
                    <a:pt x="304" y="23"/>
                    <a:pt x="304" y="23"/>
                    <a:pt x="304" y="23"/>
                  </a:cubicBezTo>
                  <a:cubicBezTo>
                    <a:pt x="308" y="21"/>
                    <a:pt x="311" y="21"/>
                    <a:pt x="315" y="23"/>
                  </a:cubicBezTo>
                  <a:cubicBezTo>
                    <a:pt x="318" y="25"/>
                    <a:pt x="320" y="29"/>
                    <a:pt x="320" y="32"/>
                  </a:cubicBezTo>
                  <a:cubicBezTo>
                    <a:pt x="320" y="203"/>
                    <a:pt x="320" y="203"/>
                    <a:pt x="320" y="203"/>
                  </a:cubicBezTo>
                  <a:cubicBezTo>
                    <a:pt x="320" y="207"/>
                    <a:pt x="318" y="210"/>
                    <a:pt x="315" y="212"/>
                  </a:cubicBezTo>
                  <a:cubicBezTo>
                    <a:pt x="311" y="214"/>
                    <a:pt x="308" y="214"/>
                    <a:pt x="304" y="213"/>
                  </a:cubicBezTo>
                  <a:cubicBezTo>
                    <a:pt x="234" y="178"/>
                    <a:pt x="234" y="178"/>
                    <a:pt x="234" y="178"/>
                  </a:cubicBezTo>
                  <a:cubicBezTo>
                    <a:pt x="234" y="224"/>
                    <a:pt x="234" y="224"/>
                    <a:pt x="234" y="224"/>
                  </a:cubicBezTo>
                  <a:cubicBezTo>
                    <a:pt x="234" y="230"/>
                    <a:pt x="230" y="235"/>
                    <a:pt x="224" y="235"/>
                  </a:cubicBezTo>
                  <a:close/>
                  <a:moveTo>
                    <a:pt x="21" y="214"/>
                  </a:moveTo>
                  <a:cubicBezTo>
                    <a:pt x="213" y="214"/>
                    <a:pt x="213" y="214"/>
                    <a:pt x="213" y="214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3" y="157"/>
                    <a:pt x="215" y="153"/>
                    <a:pt x="218" y="151"/>
                  </a:cubicBezTo>
                  <a:cubicBezTo>
                    <a:pt x="221" y="149"/>
                    <a:pt x="225" y="149"/>
                    <a:pt x="228" y="151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50"/>
                    <a:pt x="298" y="50"/>
                    <a:pt x="298" y="50"/>
                  </a:cubicBezTo>
                  <a:cubicBezTo>
                    <a:pt x="228" y="85"/>
                    <a:pt x="228" y="85"/>
                    <a:pt x="228" y="85"/>
                  </a:cubicBezTo>
                  <a:cubicBezTo>
                    <a:pt x="225" y="86"/>
                    <a:pt x="221" y="86"/>
                    <a:pt x="218" y="84"/>
                  </a:cubicBezTo>
                  <a:cubicBezTo>
                    <a:pt x="215" y="82"/>
                    <a:pt x="213" y="79"/>
                    <a:pt x="213" y="75"/>
                  </a:cubicBezTo>
                  <a:cubicBezTo>
                    <a:pt x="213" y="22"/>
                    <a:pt x="213" y="22"/>
                    <a:pt x="213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FCB1271-68FC-7555-BC72-4EDEECCF87CF}"/>
              </a:ext>
            </a:extLst>
          </p:cNvPr>
          <p:cNvSpPr/>
          <p:nvPr/>
        </p:nvSpPr>
        <p:spPr>
          <a:xfrm>
            <a:off x="5860212" y="3767765"/>
            <a:ext cx="18719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[Process step 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[Description of the process step activities and value – this is placeholder text to replace – this is placeholder text to replace –this is placeholder text to replace]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0BBA54-E789-BAB9-B249-EDD053EFDF65}"/>
              </a:ext>
            </a:extLst>
          </p:cNvPr>
          <p:cNvSpPr txBox="1"/>
          <p:nvPr/>
        </p:nvSpPr>
        <p:spPr>
          <a:xfrm>
            <a:off x="6292930" y="3046691"/>
            <a:ext cx="385737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F293A4A2-D49E-631D-2BD3-1FD1B0B93AE7}"/>
              </a:ext>
            </a:extLst>
          </p:cNvPr>
          <p:cNvSpPr/>
          <p:nvPr/>
        </p:nvSpPr>
        <p:spPr>
          <a:xfrm>
            <a:off x="4764757" y="3205659"/>
            <a:ext cx="1512168" cy="1512168"/>
          </a:xfrm>
          <a:prstGeom prst="diagStripe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Diagonal Stripe 34">
            <a:extLst>
              <a:ext uri="{FF2B5EF4-FFF2-40B4-BE49-F238E27FC236}">
                <a16:creationId xmlns:a16="http://schemas.microsoft.com/office/drawing/2014/main" id="{109FC386-2B02-3933-86B1-31A10943EE9D}"/>
              </a:ext>
            </a:extLst>
          </p:cNvPr>
          <p:cNvSpPr/>
          <p:nvPr/>
        </p:nvSpPr>
        <p:spPr>
          <a:xfrm flipV="1">
            <a:off x="4764757" y="1625815"/>
            <a:ext cx="1512168" cy="1512168"/>
          </a:xfrm>
          <a:prstGeom prst="diagStrip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9" name="Group 414">
            <a:extLst>
              <a:ext uri="{FF2B5EF4-FFF2-40B4-BE49-F238E27FC236}">
                <a16:creationId xmlns:a16="http://schemas.microsoft.com/office/drawing/2014/main" id="{6400E08D-5CB9-1E50-B926-8C378580476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89206" y="2847346"/>
            <a:ext cx="630172" cy="632025"/>
            <a:chOff x="5060" y="1524"/>
            <a:chExt cx="340" cy="341"/>
          </a:xfrm>
          <a:solidFill>
            <a:schemeClr val="accent6"/>
          </a:solidFill>
        </p:grpSpPr>
        <p:sp>
          <p:nvSpPr>
            <p:cNvPr id="40" name="Freeform 415">
              <a:extLst>
                <a:ext uri="{FF2B5EF4-FFF2-40B4-BE49-F238E27FC236}">
                  <a16:creationId xmlns:a16="http://schemas.microsoft.com/office/drawing/2014/main" id="{13A3C528-7849-A0E8-6CB1-B749BDBD5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4" y="1623"/>
              <a:ext cx="212" cy="157"/>
            </a:xfrm>
            <a:custGeom>
              <a:avLst/>
              <a:gdLst>
                <a:gd name="T0" fmla="*/ 309 w 320"/>
                <a:gd name="T1" fmla="*/ 0 h 235"/>
                <a:gd name="T2" fmla="*/ 10 w 320"/>
                <a:gd name="T3" fmla="*/ 0 h 235"/>
                <a:gd name="T4" fmla="*/ 0 w 320"/>
                <a:gd name="T5" fmla="*/ 11 h 235"/>
                <a:gd name="T6" fmla="*/ 0 w 320"/>
                <a:gd name="T7" fmla="*/ 203 h 235"/>
                <a:gd name="T8" fmla="*/ 10 w 320"/>
                <a:gd name="T9" fmla="*/ 213 h 235"/>
                <a:gd name="T10" fmla="*/ 96 w 320"/>
                <a:gd name="T11" fmla="*/ 213 h 235"/>
                <a:gd name="T12" fmla="*/ 85 w 320"/>
                <a:gd name="T13" fmla="*/ 224 h 235"/>
                <a:gd name="T14" fmla="*/ 96 w 320"/>
                <a:gd name="T15" fmla="*/ 235 h 235"/>
                <a:gd name="T16" fmla="*/ 224 w 320"/>
                <a:gd name="T17" fmla="*/ 235 h 235"/>
                <a:gd name="T18" fmla="*/ 234 w 320"/>
                <a:gd name="T19" fmla="*/ 224 h 235"/>
                <a:gd name="T20" fmla="*/ 224 w 320"/>
                <a:gd name="T21" fmla="*/ 213 h 235"/>
                <a:gd name="T22" fmla="*/ 309 w 320"/>
                <a:gd name="T23" fmla="*/ 213 h 235"/>
                <a:gd name="T24" fmla="*/ 320 w 320"/>
                <a:gd name="T25" fmla="*/ 203 h 235"/>
                <a:gd name="T26" fmla="*/ 320 w 320"/>
                <a:gd name="T27" fmla="*/ 11 h 235"/>
                <a:gd name="T28" fmla="*/ 309 w 320"/>
                <a:gd name="T29" fmla="*/ 0 h 235"/>
                <a:gd name="T30" fmla="*/ 298 w 320"/>
                <a:gd name="T31" fmla="*/ 192 h 235"/>
                <a:gd name="T32" fmla="*/ 21 w 320"/>
                <a:gd name="T33" fmla="*/ 192 h 235"/>
                <a:gd name="T34" fmla="*/ 21 w 320"/>
                <a:gd name="T35" fmla="*/ 21 h 235"/>
                <a:gd name="T36" fmla="*/ 298 w 320"/>
                <a:gd name="T37" fmla="*/ 21 h 235"/>
                <a:gd name="T38" fmla="*/ 298 w 320"/>
                <a:gd name="T39" fmla="*/ 192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09"/>
                    <a:pt x="4" y="213"/>
                    <a:pt x="10" y="213"/>
                  </a:cubicBezTo>
                  <a:cubicBezTo>
                    <a:pt x="96" y="213"/>
                    <a:pt x="96" y="213"/>
                    <a:pt x="96" y="213"/>
                  </a:cubicBezTo>
                  <a:cubicBezTo>
                    <a:pt x="90" y="213"/>
                    <a:pt x="85" y="218"/>
                    <a:pt x="85" y="224"/>
                  </a:cubicBezTo>
                  <a:cubicBezTo>
                    <a:pt x="85" y="230"/>
                    <a:pt x="90" y="235"/>
                    <a:pt x="96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0" y="235"/>
                    <a:pt x="234" y="230"/>
                    <a:pt x="234" y="224"/>
                  </a:cubicBezTo>
                  <a:cubicBezTo>
                    <a:pt x="234" y="218"/>
                    <a:pt x="230" y="213"/>
                    <a:pt x="224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15" y="213"/>
                    <a:pt x="320" y="209"/>
                    <a:pt x="320" y="203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20" y="5"/>
                    <a:pt x="315" y="0"/>
                    <a:pt x="309" y="0"/>
                  </a:cubicBezTo>
                  <a:close/>
                  <a:moveTo>
                    <a:pt x="298" y="192"/>
                  </a:moveTo>
                  <a:cubicBezTo>
                    <a:pt x="21" y="192"/>
                    <a:pt x="21" y="192"/>
                    <a:pt x="21" y="19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98" y="21"/>
                    <a:pt x="298" y="21"/>
                    <a:pt x="298" y="21"/>
                  </a:cubicBezTo>
                  <a:lnTo>
                    <a:pt x="298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Freeform 416">
              <a:extLst>
                <a:ext uri="{FF2B5EF4-FFF2-40B4-BE49-F238E27FC236}">
                  <a16:creationId xmlns:a16="http://schemas.microsoft.com/office/drawing/2014/main" id="{F5D871F8-3AB8-D0EC-4D7D-04770D517F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0" y="1524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F91CFB4-7EDE-9855-1756-B9E442CA3B4C}"/>
              </a:ext>
            </a:extLst>
          </p:cNvPr>
          <p:cNvSpPr/>
          <p:nvPr/>
        </p:nvSpPr>
        <p:spPr>
          <a:xfrm>
            <a:off x="9073154" y="3767765"/>
            <a:ext cx="18719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[Process step 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[Description of the process step activities and value – this is placeholder text to replace – this is placeholder text to replace –this is placeholder text to replace]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55FCF4-8DC7-4F50-5F42-D480C1F6289B}"/>
              </a:ext>
            </a:extLst>
          </p:cNvPr>
          <p:cNvSpPr txBox="1"/>
          <p:nvPr/>
        </p:nvSpPr>
        <p:spPr>
          <a:xfrm>
            <a:off x="9499371" y="3046691"/>
            <a:ext cx="385737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32" name="Diagonal Stripe 31">
            <a:extLst>
              <a:ext uri="{FF2B5EF4-FFF2-40B4-BE49-F238E27FC236}">
                <a16:creationId xmlns:a16="http://schemas.microsoft.com/office/drawing/2014/main" id="{F369E099-05F3-DE2F-01E1-CFF13A0A4058}"/>
              </a:ext>
            </a:extLst>
          </p:cNvPr>
          <p:cNvSpPr/>
          <p:nvPr/>
        </p:nvSpPr>
        <p:spPr>
          <a:xfrm>
            <a:off x="7976945" y="3205659"/>
            <a:ext cx="1512168" cy="1512168"/>
          </a:xfrm>
          <a:prstGeom prst="diagStrip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Diagonal Stripe 32">
            <a:extLst>
              <a:ext uri="{FF2B5EF4-FFF2-40B4-BE49-F238E27FC236}">
                <a16:creationId xmlns:a16="http://schemas.microsoft.com/office/drawing/2014/main" id="{0D40D18D-4DFC-DC69-60E0-99EEAA951C36}"/>
              </a:ext>
            </a:extLst>
          </p:cNvPr>
          <p:cNvSpPr/>
          <p:nvPr/>
        </p:nvSpPr>
        <p:spPr>
          <a:xfrm flipV="1">
            <a:off x="7976945" y="1625815"/>
            <a:ext cx="1512168" cy="1512168"/>
          </a:xfrm>
          <a:prstGeom prst="diagStrip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2" name="Group 382">
            <a:extLst>
              <a:ext uri="{FF2B5EF4-FFF2-40B4-BE49-F238E27FC236}">
                <a16:creationId xmlns:a16="http://schemas.microsoft.com/office/drawing/2014/main" id="{04E20764-80B2-CDCD-0315-3BAE0B3193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70764" y="2847354"/>
            <a:ext cx="629056" cy="629057"/>
            <a:chOff x="390" y="1196"/>
            <a:chExt cx="340" cy="340"/>
          </a:xfrm>
          <a:solidFill>
            <a:schemeClr val="tx1"/>
          </a:solidFill>
        </p:grpSpPr>
        <p:sp>
          <p:nvSpPr>
            <p:cNvPr id="43" name="Freeform 383">
              <a:extLst>
                <a:ext uri="{FF2B5EF4-FFF2-40B4-BE49-F238E27FC236}">
                  <a16:creationId xmlns:a16="http://schemas.microsoft.com/office/drawing/2014/main" id="{0F78E0AC-BE7D-1724-54D7-C1F06009D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" y="1266"/>
              <a:ext cx="195" cy="192"/>
            </a:xfrm>
            <a:custGeom>
              <a:avLst/>
              <a:gdLst>
                <a:gd name="T0" fmla="*/ 238 w 293"/>
                <a:gd name="T1" fmla="*/ 288 h 288"/>
                <a:gd name="T2" fmla="*/ 225 w 293"/>
                <a:gd name="T3" fmla="*/ 287 h 288"/>
                <a:gd name="T4" fmla="*/ 82 w 293"/>
                <a:gd name="T5" fmla="*/ 210 h 288"/>
                <a:gd name="T6" fmla="*/ 6 w 293"/>
                <a:gd name="T7" fmla="*/ 67 h 288"/>
                <a:gd name="T8" fmla="*/ 18 w 293"/>
                <a:gd name="T9" fmla="*/ 26 h 288"/>
                <a:gd name="T10" fmla="*/ 20 w 293"/>
                <a:gd name="T11" fmla="*/ 23 h 288"/>
                <a:gd name="T12" fmla="*/ 47 w 293"/>
                <a:gd name="T13" fmla="*/ 1 h 288"/>
                <a:gd name="T14" fmla="*/ 47 w 293"/>
                <a:gd name="T15" fmla="*/ 1 h 288"/>
                <a:gd name="T16" fmla="*/ 76 w 293"/>
                <a:gd name="T17" fmla="*/ 9 h 288"/>
                <a:gd name="T18" fmla="*/ 125 w 293"/>
                <a:gd name="T19" fmla="*/ 71 h 288"/>
                <a:gd name="T20" fmla="*/ 123 w 293"/>
                <a:gd name="T21" fmla="*/ 80 h 288"/>
                <a:gd name="T22" fmla="*/ 99 w 293"/>
                <a:gd name="T23" fmla="*/ 104 h 288"/>
                <a:gd name="T24" fmla="*/ 106 w 293"/>
                <a:gd name="T25" fmla="*/ 116 h 288"/>
                <a:gd name="T26" fmla="*/ 138 w 293"/>
                <a:gd name="T27" fmla="*/ 155 h 288"/>
                <a:gd name="T28" fmla="*/ 177 w 293"/>
                <a:gd name="T29" fmla="*/ 186 h 288"/>
                <a:gd name="T30" fmla="*/ 189 w 293"/>
                <a:gd name="T31" fmla="*/ 193 h 288"/>
                <a:gd name="T32" fmla="*/ 213 w 293"/>
                <a:gd name="T33" fmla="*/ 170 h 288"/>
                <a:gd name="T34" fmla="*/ 222 w 293"/>
                <a:gd name="T35" fmla="*/ 167 h 288"/>
                <a:gd name="T36" fmla="*/ 284 w 293"/>
                <a:gd name="T37" fmla="*/ 216 h 288"/>
                <a:gd name="T38" fmla="*/ 291 w 293"/>
                <a:gd name="T39" fmla="*/ 244 h 288"/>
                <a:gd name="T40" fmla="*/ 291 w 293"/>
                <a:gd name="T41" fmla="*/ 244 h 288"/>
                <a:gd name="T42" fmla="*/ 269 w 293"/>
                <a:gd name="T43" fmla="*/ 272 h 288"/>
                <a:gd name="T44" fmla="*/ 266 w 293"/>
                <a:gd name="T45" fmla="*/ 275 h 288"/>
                <a:gd name="T46" fmla="*/ 238 w 293"/>
                <a:gd name="T47" fmla="*/ 288 h 288"/>
                <a:gd name="T48" fmla="*/ 53 w 293"/>
                <a:gd name="T49" fmla="*/ 22 h 288"/>
                <a:gd name="T50" fmla="*/ 36 w 293"/>
                <a:gd name="T51" fmla="*/ 38 h 288"/>
                <a:gd name="T52" fmla="*/ 33 w 293"/>
                <a:gd name="T53" fmla="*/ 41 h 288"/>
                <a:gd name="T54" fmla="*/ 27 w 293"/>
                <a:gd name="T55" fmla="*/ 63 h 288"/>
                <a:gd name="T56" fmla="*/ 27 w 293"/>
                <a:gd name="T57" fmla="*/ 65 h 288"/>
                <a:gd name="T58" fmla="*/ 97 w 293"/>
                <a:gd name="T59" fmla="*/ 195 h 288"/>
                <a:gd name="T60" fmla="*/ 228 w 293"/>
                <a:gd name="T61" fmla="*/ 266 h 288"/>
                <a:gd name="T62" fmla="*/ 229 w 293"/>
                <a:gd name="T63" fmla="*/ 266 h 288"/>
                <a:gd name="T64" fmla="*/ 251 w 293"/>
                <a:gd name="T65" fmla="*/ 259 h 288"/>
                <a:gd name="T66" fmla="*/ 255 w 293"/>
                <a:gd name="T67" fmla="*/ 256 h 288"/>
                <a:gd name="T68" fmla="*/ 270 w 293"/>
                <a:gd name="T69" fmla="*/ 240 h 288"/>
                <a:gd name="T70" fmla="*/ 224 w 293"/>
                <a:gd name="T71" fmla="*/ 189 h 288"/>
                <a:gd name="T72" fmla="*/ 198 w 293"/>
                <a:gd name="T73" fmla="*/ 215 h 288"/>
                <a:gd name="T74" fmla="*/ 184 w 293"/>
                <a:gd name="T75" fmla="*/ 216 h 288"/>
                <a:gd name="T76" fmla="*/ 166 w 293"/>
                <a:gd name="T77" fmla="*/ 204 h 288"/>
                <a:gd name="T78" fmla="*/ 122 w 293"/>
                <a:gd name="T79" fmla="*/ 170 h 288"/>
                <a:gd name="T80" fmla="*/ 88 w 293"/>
                <a:gd name="T81" fmla="*/ 127 h 288"/>
                <a:gd name="T82" fmla="*/ 76 w 293"/>
                <a:gd name="T83" fmla="*/ 108 h 288"/>
                <a:gd name="T84" fmla="*/ 78 w 293"/>
                <a:gd name="T85" fmla="*/ 95 h 288"/>
                <a:gd name="T86" fmla="*/ 104 w 293"/>
                <a:gd name="T87" fmla="*/ 69 h 288"/>
                <a:gd name="T88" fmla="*/ 53 w 293"/>
                <a:gd name="T89" fmla="*/ 2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88">
                  <a:moveTo>
                    <a:pt x="238" y="288"/>
                  </a:moveTo>
                  <a:cubicBezTo>
                    <a:pt x="234" y="288"/>
                    <a:pt x="230" y="288"/>
                    <a:pt x="225" y="287"/>
                  </a:cubicBezTo>
                  <a:cubicBezTo>
                    <a:pt x="216" y="286"/>
                    <a:pt x="144" y="275"/>
                    <a:pt x="82" y="210"/>
                  </a:cubicBezTo>
                  <a:cubicBezTo>
                    <a:pt x="17" y="148"/>
                    <a:pt x="7" y="76"/>
                    <a:pt x="6" y="67"/>
                  </a:cubicBezTo>
                  <a:cubicBezTo>
                    <a:pt x="0" y="44"/>
                    <a:pt x="9" y="35"/>
                    <a:pt x="18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0" y="13"/>
                    <a:pt x="36" y="4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58" y="0"/>
                    <a:pt x="76" y="9"/>
                  </a:cubicBezTo>
                  <a:cubicBezTo>
                    <a:pt x="103" y="23"/>
                    <a:pt x="121" y="45"/>
                    <a:pt x="125" y="71"/>
                  </a:cubicBezTo>
                  <a:cubicBezTo>
                    <a:pt x="126" y="74"/>
                    <a:pt x="125" y="77"/>
                    <a:pt x="123" y="80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02" y="108"/>
                    <a:pt x="104" y="112"/>
                    <a:pt x="106" y="116"/>
                  </a:cubicBezTo>
                  <a:cubicBezTo>
                    <a:pt x="114" y="127"/>
                    <a:pt x="119" y="136"/>
                    <a:pt x="138" y="155"/>
                  </a:cubicBezTo>
                  <a:cubicBezTo>
                    <a:pt x="156" y="174"/>
                    <a:pt x="165" y="179"/>
                    <a:pt x="177" y="186"/>
                  </a:cubicBezTo>
                  <a:cubicBezTo>
                    <a:pt x="180" y="188"/>
                    <a:pt x="184" y="191"/>
                    <a:pt x="189" y="193"/>
                  </a:cubicBezTo>
                  <a:cubicBezTo>
                    <a:pt x="213" y="170"/>
                    <a:pt x="213" y="170"/>
                    <a:pt x="213" y="170"/>
                  </a:cubicBezTo>
                  <a:cubicBezTo>
                    <a:pt x="215" y="167"/>
                    <a:pt x="218" y="166"/>
                    <a:pt x="222" y="167"/>
                  </a:cubicBezTo>
                  <a:cubicBezTo>
                    <a:pt x="248" y="170"/>
                    <a:pt x="270" y="188"/>
                    <a:pt x="284" y="216"/>
                  </a:cubicBezTo>
                  <a:cubicBezTo>
                    <a:pt x="290" y="229"/>
                    <a:pt x="293" y="239"/>
                    <a:pt x="291" y="244"/>
                  </a:cubicBezTo>
                  <a:cubicBezTo>
                    <a:pt x="291" y="244"/>
                    <a:pt x="291" y="244"/>
                    <a:pt x="291" y="244"/>
                  </a:cubicBezTo>
                  <a:cubicBezTo>
                    <a:pt x="289" y="253"/>
                    <a:pt x="280" y="262"/>
                    <a:pt x="269" y="272"/>
                  </a:cubicBezTo>
                  <a:cubicBezTo>
                    <a:pt x="266" y="275"/>
                    <a:pt x="266" y="275"/>
                    <a:pt x="266" y="275"/>
                  </a:cubicBezTo>
                  <a:cubicBezTo>
                    <a:pt x="259" y="281"/>
                    <a:pt x="252" y="288"/>
                    <a:pt x="238" y="288"/>
                  </a:cubicBezTo>
                  <a:close/>
                  <a:moveTo>
                    <a:pt x="53" y="22"/>
                  </a:moveTo>
                  <a:cubicBezTo>
                    <a:pt x="48" y="25"/>
                    <a:pt x="40" y="34"/>
                    <a:pt x="36" y="38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26" y="49"/>
                    <a:pt x="24" y="51"/>
                    <a:pt x="27" y="63"/>
                  </a:cubicBezTo>
                  <a:cubicBezTo>
                    <a:pt x="27" y="64"/>
                    <a:pt x="27" y="64"/>
                    <a:pt x="27" y="65"/>
                  </a:cubicBezTo>
                  <a:cubicBezTo>
                    <a:pt x="27" y="65"/>
                    <a:pt x="35" y="136"/>
                    <a:pt x="97" y="195"/>
                  </a:cubicBezTo>
                  <a:cubicBezTo>
                    <a:pt x="157" y="258"/>
                    <a:pt x="227" y="265"/>
                    <a:pt x="228" y="266"/>
                  </a:cubicBezTo>
                  <a:cubicBezTo>
                    <a:pt x="228" y="266"/>
                    <a:pt x="229" y="266"/>
                    <a:pt x="229" y="266"/>
                  </a:cubicBezTo>
                  <a:cubicBezTo>
                    <a:pt x="242" y="269"/>
                    <a:pt x="244" y="267"/>
                    <a:pt x="251" y="259"/>
                  </a:cubicBezTo>
                  <a:cubicBezTo>
                    <a:pt x="255" y="256"/>
                    <a:pt x="255" y="256"/>
                    <a:pt x="255" y="256"/>
                  </a:cubicBezTo>
                  <a:cubicBezTo>
                    <a:pt x="258" y="253"/>
                    <a:pt x="267" y="244"/>
                    <a:pt x="270" y="240"/>
                  </a:cubicBezTo>
                  <a:cubicBezTo>
                    <a:pt x="267" y="230"/>
                    <a:pt x="255" y="197"/>
                    <a:pt x="224" y="189"/>
                  </a:cubicBezTo>
                  <a:cubicBezTo>
                    <a:pt x="198" y="215"/>
                    <a:pt x="198" y="215"/>
                    <a:pt x="198" y="215"/>
                  </a:cubicBezTo>
                  <a:cubicBezTo>
                    <a:pt x="194" y="218"/>
                    <a:pt x="188" y="219"/>
                    <a:pt x="184" y="216"/>
                  </a:cubicBezTo>
                  <a:cubicBezTo>
                    <a:pt x="177" y="211"/>
                    <a:pt x="171" y="207"/>
                    <a:pt x="166" y="204"/>
                  </a:cubicBezTo>
                  <a:cubicBezTo>
                    <a:pt x="154" y="197"/>
                    <a:pt x="143" y="190"/>
                    <a:pt x="122" y="170"/>
                  </a:cubicBezTo>
                  <a:cubicBezTo>
                    <a:pt x="102" y="149"/>
                    <a:pt x="96" y="139"/>
                    <a:pt x="88" y="127"/>
                  </a:cubicBezTo>
                  <a:cubicBezTo>
                    <a:pt x="85" y="121"/>
                    <a:pt x="81" y="116"/>
                    <a:pt x="76" y="108"/>
                  </a:cubicBezTo>
                  <a:cubicBezTo>
                    <a:pt x="73" y="104"/>
                    <a:pt x="74" y="98"/>
                    <a:pt x="78" y="95"/>
                  </a:cubicBezTo>
                  <a:cubicBezTo>
                    <a:pt x="104" y="69"/>
                    <a:pt x="104" y="69"/>
                    <a:pt x="104" y="69"/>
                  </a:cubicBezTo>
                  <a:cubicBezTo>
                    <a:pt x="96" y="38"/>
                    <a:pt x="62" y="25"/>
                    <a:pt x="53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Freeform 384">
              <a:extLst>
                <a:ext uri="{FF2B5EF4-FFF2-40B4-BE49-F238E27FC236}">
                  <a16:creationId xmlns:a16="http://schemas.microsoft.com/office/drawing/2014/main" id="{50AAD3FD-7ED0-5CF8-C7B1-10C62853F4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" y="1196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9" name="Right Brace 48">
            <a:extLst>
              <a:ext uri="{FF2B5EF4-FFF2-40B4-BE49-F238E27FC236}">
                <a16:creationId xmlns:a16="http://schemas.microsoft.com/office/drawing/2014/main" id="{48B3956E-F59E-ADC6-AA41-CFD767057674}"/>
              </a:ext>
            </a:extLst>
          </p:cNvPr>
          <p:cNvSpPr/>
          <p:nvPr/>
        </p:nvSpPr>
        <p:spPr>
          <a:xfrm rot="5400000">
            <a:off x="5957770" y="-235940"/>
            <a:ext cx="266949" cy="11073016"/>
          </a:xfrm>
          <a:prstGeom prst="rightBrace">
            <a:avLst/>
          </a:prstGeom>
          <a:noFill/>
          <a:ln w="28575" cap="flat" cmpd="sng" algn="ctr">
            <a:solidFill>
              <a:schemeClr val="dk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331138-A3AA-22A8-37E7-A8F9586EC654}"/>
              </a:ext>
            </a:extLst>
          </p:cNvPr>
          <p:cNvSpPr/>
          <p:nvPr/>
        </p:nvSpPr>
        <p:spPr>
          <a:xfrm>
            <a:off x="0" y="5593657"/>
            <a:ext cx="12191999" cy="542783"/>
          </a:xfrm>
          <a:prstGeom prst="rect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[Main takeaway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 this is placeholder text to replace – this is placeholder text to replace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]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3300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5C00-8888-165A-1A7B-C5C7E2CD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tree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EFDC9-A471-B258-EFDC-9A14E0F2F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2BB40-BDD2-CA15-10E6-E8C3519148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4B2DF-AF66-7676-0952-8EE22CCDB4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C5829303-E4DF-22DD-CAEA-D26B16DDB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647" y="1314795"/>
            <a:ext cx="1071079" cy="191871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ja-JP" sz="1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110004020202020204"/>
                <a:ea typeface="ＭＳ Ｐゴシック" charset="-128"/>
                <a:cs typeface="Arial" pitchFamily="34" charset="0"/>
              </a:rPr>
              <a:t>Driver strength</a:t>
            </a:r>
          </a:p>
        </p:txBody>
      </p:sp>
      <p:cxnSp>
        <p:nvCxnSpPr>
          <p:cNvPr id="6" name="AutoShape 9">
            <a:extLst>
              <a:ext uri="{FF2B5EF4-FFF2-40B4-BE49-F238E27FC236}">
                <a16:creationId xmlns:a16="http://schemas.microsoft.com/office/drawing/2014/main" id="{D6CEABF8-7EC2-D07E-9BF9-A66508B7713D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3596641" y="3341214"/>
            <a:ext cx="1447799" cy="74174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BBBCBC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7" name="AutoShape 10">
            <a:extLst>
              <a:ext uri="{FF2B5EF4-FFF2-40B4-BE49-F238E27FC236}">
                <a16:creationId xmlns:a16="http://schemas.microsoft.com/office/drawing/2014/main" id="{5B719DC6-489B-0120-7623-52F40312864E}"/>
              </a:ext>
            </a:extLst>
          </p:cNvPr>
          <p:cNvCxnSpPr>
            <a:cxnSpLocks noChangeShapeType="1"/>
            <a:stCxn id="11" idx="3"/>
            <a:endCxn id="14" idx="1"/>
          </p:cNvCxnSpPr>
          <p:nvPr/>
        </p:nvCxnSpPr>
        <p:spPr bwMode="auto">
          <a:xfrm flipV="1">
            <a:off x="3596641" y="1857736"/>
            <a:ext cx="1447799" cy="148347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BBBCBC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8" name="AutoShape 11">
            <a:extLst>
              <a:ext uri="{FF2B5EF4-FFF2-40B4-BE49-F238E27FC236}">
                <a16:creationId xmlns:a16="http://schemas.microsoft.com/office/drawing/2014/main" id="{294AC828-6711-228C-8F7A-C6FD624E45E9}"/>
              </a:ext>
            </a:extLst>
          </p:cNvPr>
          <p:cNvCxnSpPr>
            <a:cxnSpLocks noChangeShapeType="1"/>
            <a:stCxn id="11" idx="3"/>
            <a:endCxn id="15" idx="1"/>
          </p:cNvCxnSpPr>
          <p:nvPr/>
        </p:nvCxnSpPr>
        <p:spPr bwMode="auto">
          <a:xfrm flipV="1">
            <a:off x="3596641" y="2599476"/>
            <a:ext cx="1447799" cy="74173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BBBCBC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9" name="AutoShape 14">
            <a:extLst>
              <a:ext uri="{FF2B5EF4-FFF2-40B4-BE49-F238E27FC236}">
                <a16:creationId xmlns:a16="http://schemas.microsoft.com/office/drawing/2014/main" id="{56A35056-BB2F-0EFF-9CEB-75C83A2D80CB}"/>
              </a:ext>
            </a:extLst>
          </p:cNvPr>
          <p:cNvCxnSpPr>
            <a:cxnSpLocks noChangeShapeType="1"/>
            <a:stCxn id="12" idx="1"/>
            <a:endCxn id="11" idx="3"/>
          </p:cNvCxnSpPr>
          <p:nvPr/>
        </p:nvCxnSpPr>
        <p:spPr bwMode="auto">
          <a:xfrm rot="10800000">
            <a:off x="3596642" y="3341215"/>
            <a:ext cx="1447799" cy="148347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BBBCBC"/>
            </a:solidFill>
            <a:miter lim="800000"/>
            <a:headEnd type="none" w="sm" len="sm"/>
            <a:tailEnd type="none" w="med" len="lg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8D9D6-293D-F04D-EA32-9EB86A7F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35" y="2730240"/>
            <a:ext cx="3041906" cy="1221947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[Primary project objective]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[Description of the objective in the lens of the desired future state – this is placeholder text to replace]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1CF6-6FC5-D4AB-8860-0466B5436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4565580"/>
            <a:ext cx="5257800" cy="51822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[KPI] 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– Rationale for how </a:t>
            </a:r>
            <a:r>
              <a:rPr lang="en-US" altLang="ja-JP" sz="1200" dirty="0">
                <a:latin typeface="Aptos" panose="02110004020202020204"/>
                <a:ea typeface="ＭＳ Ｐゴシック" pitchFamily="50" charset="-128"/>
                <a:cs typeface="Arial" pitchFamily="34" charset="0"/>
              </a:rPr>
              <a:t>this KPI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 drives the primary project objective]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732D2-FD2C-83B5-0D16-08F4EE50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3823841"/>
            <a:ext cx="5257800" cy="51822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[KPI] 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– Rationale for how </a:t>
            </a:r>
            <a:r>
              <a:rPr lang="en-US" altLang="ja-JP" sz="1200" dirty="0">
                <a:latin typeface="Aptos" panose="02110004020202020204"/>
                <a:ea typeface="ＭＳ Ｐゴシック" pitchFamily="50" charset="-128"/>
                <a:cs typeface="Arial" pitchFamily="34" charset="0"/>
              </a:rPr>
              <a:t>this KPI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 drives the primary project objective]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A9C777-7B48-068D-E685-929B81ACE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1598623"/>
            <a:ext cx="5257800" cy="51822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[KPI] 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– Rationale for how </a:t>
            </a:r>
            <a:r>
              <a:rPr lang="en-US" altLang="ja-JP" sz="1200" dirty="0">
                <a:latin typeface="Aptos" panose="02110004020202020204"/>
                <a:ea typeface="ＭＳ Ｐゴシック" pitchFamily="50" charset="-128"/>
                <a:cs typeface="Arial" pitchFamily="34" charset="0"/>
              </a:rPr>
              <a:t>this KPI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 drives the primary project objective]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C0625-40D8-C0AB-A1B3-8892523B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2340363"/>
            <a:ext cx="5257800" cy="51822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[KPI] 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– Rationale for how </a:t>
            </a:r>
            <a:r>
              <a:rPr lang="en-US" altLang="ja-JP" sz="1200" dirty="0">
                <a:latin typeface="Aptos" panose="02110004020202020204"/>
                <a:ea typeface="ＭＳ Ｐゴシック" pitchFamily="50" charset="-128"/>
                <a:cs typeface="Arial" pitchFamily="34" charset="0"/>
              </a:rPr>
              <a:t>this KPI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 drives the primary project objective]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202DFC-4DFF-6BAB-B93C-1A5911A2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3082102"/>
            <a:ext cx="5257800" cy="51822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8900" tIns="88900" rIns="88900" bIns="889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[KPI] 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– Rationale for how </a:t>
            </a:r>
            <a:r>
              <a:rPr lang="en-US" altLang="ja-JP" sz="1200" dirty="0">
                <a:latin typeface="Aptos" panose="02110004020202020204"/>
                <a:ea typeface="ＭＳ Ｐゴシック" pitchFamily="50" charset="-128"/>
                <a:cs typeface="Arial" pitchFamily="34" charset="0"/>
              </a:rPr>
              <a:t>this KPI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ＭＳ Ｐゴシック" pitchFamily="50" charset="-128"/>
                <a:cs typeface="Arial" pitchFamily="34" charset="0"/>
              </a:rPr>
              <a:t> drives the primary project objective] 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70026C-E767-FD6D-350A-4C43E342CDCF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3596641" y="3341214"/>
            <a:ext cx="1447799" cy="1"/>
          </a:xfrm>
          <a:prstGeom prst="line">
            <a:avLst/>
          </a:prstGeom>
          <a:noFill/>
          <a:ln w="12700">
            <a:solidFill>
              <a:srgbClr val="BBBCBC"/>
            </a:solidFill>
            <a:miter lim="800000"/>
            <a:headEnd type="none" w="sm" len="sm"/>
            <a:tailEnd type="none" w="sm" len="sm"/>
          </a:ln>
        </p:spPr>
      </p:cxnSp>
      <p:sp>
        <p:nvSpPr>
          <p:cNvPr id="60" name="HarveyBall 862619">
            <a:extLst>
              <a:ext uri="{FF2B5EF4-FFF2-40B4-BE49-F238E27FC236}">
                <a16:creationId xmlns:a16="http://schemas.microsoft.com/office/drawing/2014/main" id="{C01CC3CA-B770-676B-692E-F694D9E7028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876456" y="4051300"/>
            <a:ext cx="360000" cy="360000"/>
          </a:xfrm>
          <a:custGeom>
            <a:avLst/>
            <a:gdLst>
              <a:gd name="connsiteX0" fmla="*/ 317500 w 635000"/>
              <a:gd name="connsiteY0" fmla="*/ 12700 h 635000"/>
              <a:gd name="connsiteX1" fmla="*/ 27563 w 635000"/>
              <a:gd name="connsiteY1" fmla="*/ 223480 h 635000"/>
              <a:gd name="connsiteX2" fmla="*/ 138630 w 635000"/>
              <a:gd name="connsiteY2" fmla="*/ 564296 h 635000"/>
              <a:gd name="connsiteX3" fmla="*/ 497087 w 635000"/>
              <a:gd name="connsiteY3" fmla="*/ 563775 h 635000"/>
              <a:gd name="connsiteX4" fmla="*/ 317500 w 635000"/>
              <a:gd name="connsiteY4" fmla="*/ 317500 h 635000"/>
              <a:gd name="connsiteX5" fmla="*/ 317500 w 635000"/>
              <a:gd name="connsiteY5" fmla="*/ 0 h 635000"/>
              <a:gd name="connsiteX6" fmla="*/ 635000 w 635000"/>
              <a:gd name="connsiteY6" fmla="*/ 317500 h 635000"/>
              <a:gd name="connsiteX7" fmla="*/ 317500 w 635000"/>
              <a:gd name="connsiteY7" fmla="*/ 635000 h 635000"/>
              <a:gd name="connsiteX8" fmla="*/ 0 w 635000"/>
              <a:gd name="connsiteY8" fmla="*/ 317500 h 635000"/>
              <a:gd name="connsiteX9" fmla="*/ 317500 w 635000"/>
              <a:gd name="connsiteY9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5000" h="635000">
                <a:moveTo>
                  <a:pt x="317500" y="12700"/>
                </a:moveTo>
                <a:cubicBezTo>
                  <a:pt x="185387" y="12700"/>
                  <a:pt x="68315" y="97810"/>
                  <a:pt x="27563" y="223480"/>
                </a:cubicBezTo>
                <a:cubicBezTo>
                  <a:pt x="-13189" y="349150"/>
                  <a:pt x="31658" y="486767"/>
                  <a:pt x="138630" y="564296"/>
                </a:cubicBezTo>
                <a:cubicBezTo>
                  <a:pt x="245602" y="641826"/>
                  <a:pt x="390341" y="641615"/>
                  <a:pt x="497087" y="563775"/>
                </a:cubicBezTo>
                <a:lnTo>
                  <a:pt x="317500" y="317500"/>
                </a:ln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61" name="HarveyBall 579519">
            <a:extLst>
              <a:ext uri="{FF2B5EF4-FFF2-40B4-BE49-F238E27FC236}">
                <a16:creationId xmlns:a16="http://schemas.microsoft.com/office/drawing/2014/main" id="{71948CDC-66A9-4CE1-158B-A5E1E4F2D6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876456" y="3457909"/>
            <a:ext cx="360000" cy="360000"/>
          </a:xfrm>
          <a:custGeom>
            <a:avLst/>
            <a:gdLst>
              <a:gd name="connsiteX0" fmla="*/ 317501 w 635000"/>
              <a:gd name="connsiteY0" fmla="*/ 12701 h 635000"/>
              <a:gd name="connsiteX1" fmla="*/ 35852 w 635000"/>
              <a:gd name="connsiteY1" fmla="*/ 200982 h 635000"/>
              <a:gd name="connsiteX2" fmla="*/ 102163 w 635000"/>
              <a:gd name="connsiteY2" fmla="*/ 533215 h 635000"/>
              <a:gd name="connsiteX3" fmla="*/ 434511 w 635000"/>
              <a:gd name="connsiteY3" fmla="*/ 598946 h 635000"/>
              <a:gd name="connsiteX4" fmla="*/ 622300 w 635000"/>
              <a:gd name="connsiteY4" fmla="*/ 316968 h 635000"/>
              <a:gd name="connsiteX5" fmla="*/ 317500 w 635000"/>
              <a:gd name="connsiteY5" fmla="*/ 317500 h 635000"/>
              <a:gd name="connsiteX6" fmla="*/ 317501 w 635000"/>
              <a:gd name="connsiteY6" fmla="*/ 12701 h 635000"/>
              <a:gd name="connsiteX7" fmla="*/ 317500 w 635000"/>
              <a:gd name="connsiteY7" fmla="*/ 0 h 635000"/>
              <a:gd name="connsiteX8" fmla="*/ 635000 w 635000"/>
              <a:gd name="connsiteY8" fmla="*/ 317500 h 635000"/>
              <a:gd name="connsiteX9" fmla="*/ 317500 w 635000"/>
              <a:gd name="connsiteY9" fmla="*/ 635000 h 635000"/>
              <a:gd name="connsiteX10" fmla="*/ 0 w 635000"/>
              <a:gd name="connsiteY10" fmla="*/ 317500 h 635000"/>
              <a:gd name="connsiteX11" fmla="*/ 317500 w 635000"/>
              <a:gd name="connsiteY11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000" h="635000">
                <a:moveTo>
                  <a:pt x="317501" y="12701"/>
                </a:moveTo>
                <a:cubicBezTo>
                  <a:pt x="194173" y="12701"/>
                  <a:pt x="82998" y="87021"/>
                  <a:pt x="35852" y="200982"/>
                </a:cubicBezTo>
                <a:cubicBezTo>
                  <a:pt x="-11294" y="314943"/>
                  <a:pt x="14881" y="446085"/>
                  <a:pt x="102163" y="533215"/>
                </a:cubicBezTo>
                <a:cubicBezTo>
                  <a:pt x="189445" y="620345"/>
                  <a:pt x="320632" y="646291"/>
                  <a:pt x="434511" y="598946"/>
                </a:cubicBezTo>
                <a:cubicBezTo>
                  <a:pt x="548390" y="551601"/>
                  <a:pt x="622515" y="440296"/>
                  <a:pt x="622300" y="316968"/>
                </a:cubicBezTo>
                <a:lnTo>
                  <a:pt x="317500" y="317500"/>
                </a:lnTo>
                <a:cubicBezTo>
                  <a:pt x="317500" y="215900"/>
                  <a:pt x="317501" y="114301"/>
                  <a:pt x="317501" y="12701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62" name="HarveyBall 579519">
            <a:extLst>
              <a:ext uri="{FF2B5EF4-FFF2-40B4-BE49-F238E27FC236}">
                <a16:creationId xmlns:a16="http://schemas.microsoft.com/office/drawing/2014/main" id="{5D4FC538-5A43-1A54-09DE-147E4C8CE4D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876456" y="2864518"/>
            <a:ext cx="360000" cy="360000"/>
          </a:xfrm>
          <a:custGeom>
            <a:avLst/>
            <a:gdLst>
              <a:gd name="connsiteX0" fmla="*/ 317501 w 635000"/>
              <a:gd name="connsiteY0" fmla="*/ 12701 h 635000"/>
              <a:gd name="connsiteX1" fmla="*/ 35852 w 635000"/>
              <a:gd name="connsiteY1" fmla="*/ 200982 h 635000"/>
              <a:gd name="connsiteX2" fmla="*/ 102163 w 635000"/>
              <a:gd name="connsiteY2" fmla="*/ 533215 h 635000"/>
              <a:gd name="connsiteX3" fmla="*/ 434511 w 635000"/>
              <a:gd name="connsiteY3" fmla="*/ 598946 h 635000"/>
              <a:gd name="connsiteX4" fmla="*/ 622300 w 635000"/>
              <a:gd name="connsiteY4" fmla="*/ 316968 h 635000"/>
              <a:gd name="connsiteX5" fmla="*/ 317500 w 635000"/>
              <a:gd name="connsiteY5" fmla="*/ 317500 h 635000"/>
              <a:gd name="connsiteX6" fmla="*/ 317501 w 635000"/>
              <a:gd name="connsiteY6" fmla="*/ 12701 h 635000"/>
              <a:gd name="connsiteX7" fmla="*/ 317500 w 635000"/>
              <a:gd name="connsiteY7" fmla="*/ 0 h 635000"/>
              <a:gd name="connsiteX8" fmla="*/ 635000 w 635000"/>
              <a:gd name="connsiteY8" fmla="*/ 317500 h 635000"/>
              <a:gd name="connsiteX9" fmla="*/ 317500 w 635000"/>
              <a:gd name="connsiteY9" fmla="*/ 635000 h 635000"/>
              <a:gd name="connsiteX10" fmla="*/ 0 w 635000"/>
              <a:gd name="connsiteY10" fmla="*/ 317500 h 635000"/>
              <a:gd name="connsiteX11" fmla="*/ 317500 w 635000"/>
              <a:gd name="connsiteY11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000" h="635000">
                <a:moveTo>
                  <a:pt x="317501" y="12701"/>
                </a:moveTo>
                <a:cubicBezTo>
                  <a:pt x="194173" y="12701"/>
                  <a:pt x="82998" y="87021"/>
                  <a:pt x="35852" y="200982"/>
                </a:cubicBezTo>
                <a:cubicBezTo>
                  <a:pt x="-11294" y="314943"/>
                  <a:pt x="14881" y="446085"/>
                  <a:pt x="102163" y="533215"/>
                </a:cubicBezTo>
                <a:cubicBezTo>
                  <a:pt x="189445" y="620345"/>
                  <a:pt x="320632" y="646291"/>
                  <a:pt x="434511" y="598946"/>
                </a:cubicBezTo>
                <a:cubicBezTo>
                  <a:pt x="548390" y="551601"/>
                  <a:pt x="622515" y="440296"/>
                  <a:pt x="622300" y="316968"/>
                </a:cubicBezTo>
                <a:lnTo>
                  <a:pt x="317500" y="317500"/>
                </a:lnTo>
                <a:cubicBezTo>
                  <a:pt x="317500" y="215900"/>
                  <a:pt x="317501" y="114301"/>
                  <a:pt x="317501" y="12701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63" name="HarveyBall 364019">
            <a:extLst>
              <a:ext uri="{FF2B5EF4-FFF2-40B4-BE49-F238E27FC236}">
                <a16:creationId xmlns:a16="http://schemas.microsoft.com/office/drawing/2014/main" id="{43C45AFA-6EFF-F49F-C115-74D0E34DE86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876456" y="4644693"/>
            <a:ext cx="360000" cy="360000"/>
          </a:xfrm>
          <a:custGeom>
            <a:avLst/>
            <a:gdLst>
              <a:gd name="connsiteX0" fmla="*/ 317500 w 635000"/>
              <a:gd name="connsiteY0" fmla="*/ 12700 h 635000"/>
              <a:gd name="connsiteX1" fmla="*/ 137913 w 635000"/>
              <a:gd name="connsiteY1" fmla="*/ 71225 h 635000"/>
              <a:gd name="connsiteX2" fmla="*/ 317500 w 635000"/>
              <a:gd name="connsiteY2" fmla="*/ 317500 h 635000"/>
              <a:gd name="connsiteX3" fmla="*/ 317500 w 635000"/>
              <a:gd name="connsiteY3" fmla="*/ 0 h 635000"/>
              <a:gd name="connsiteX4" fmla="*/ 635000 w 635000"/>
              <a:gd name="connsiteY4" fmla="*/ 317500 h 635000"/>
              <a:gd name="connsiteX5" fmla="*/ 317500 w 635000"/>
              <a:gd name="connsiteY5" fmla="*/ 635000 h 635000"/>
              <a:gd name="connsiteX6" fmla="*/ 0 w 635000"/>
              <a:gd name="connsiteY6" fmla="*/ 317500 h 635000"/>
              <a:gd name="connsiteX7" fmla="*/ 317500 w 635000"/>
              <a:gd name="connsiteY7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5000" h="635000">
                <a:moveTo>
                  <a:pt x="317500" y="12700"/>
                </a:moveTo>
                <a:cubicBezTo>
                  <a:pt x="252951" y="12700"/>
                  <a:pt x="190068" y="33193"/>
                  <a:pt x="137913" y="71225"/>
                </a:cubicBezTo>
                <a:lnTo>
                  <a:pt x="317500" y="317500"/>
                </a:ln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64" name="HarveyBall 524868">
            <a:extLst>
              <a:ext uri="{FF2B5EF4-FFF2-40B4-BE49-F238E27FC236}">
                <a16:creationId xmlns:a16="http://schemas.microsoft.com/office/drawing/2014/main" id="{EFB8D93F-CF40-6BF8-CF23-BBF462F8C62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876456" y="1677736"/>
            <a:ext cx="360000" cy="360000"/>
          </a:xfrm>
          <a:custGeom>
            <a:avLst/>
            <a:gdLst>
              <a:gd name="connsiteX0" fmla="*/ 317499 w 635000"/>
              <a:gd name="connsiteY0" fmla="*/ 12699 h 635000"/>
              <a:gd name="connsiteX1" fmla="*/ 16431 w 635000"/>
              <a:gd name="connsiteY1" fmla="*/ 269949 h 635000"/>
              <a:gd name="connsiteX2" fmla="*/ 223564 w 635000"/>
              <a:gd name="connsiteY2" fmla="*/ 607463 h 635000"/>
              <a:gd name="connsiteX3" fmla="*/ 589259 w 635000"/>
              <a:gd name="connsiteY3" fmla="*/ 455520 h 635000"/>
              <a:gd name="connsiteX4" fmla="*/ 496226 w 635000"/>
              <a:gd name="connsiteY4" fmla="*/ 70599 h 635000"/>
              <a:gd name="connsiteX5" fmla="*/ 317500 w 635000"/>
              <a:gd name="connsiteY5" fmla="*/ 317500 h 635000"/>
              <a:gd name="connsiteX6" fmla="*/ 317499 w 635000"/>
              <a:gd name="connsiteY6" fmla="*/ 12699 h 635000"/>
              <a:gd name="connsiteX7" fmla="*/ 317500 w 635000"/>
              <a:gd name="connsiteY7" fmla="*/ 0 h 635000"/>
              <a:gd name="connsiteX8" fmla="*/ 635000 w 635000"/>
              <a:gd name="connsiteY8" fmla="*/ 317500 h 635000"/>
              <a:gd name="connsiteX9" fmla="*/ 317500 w 635000"/>
              <a:gd name="connsiteY9" fmla="*/ 635000 h 635000"/>
              <a:gd name="connsiteX10" fmla="*/ 0 w 635000"/>
              <a:gd name="connsiteY10" fmla="*/ 317500 h 635000"/>
              <a:gd name="connsiteX11" fmla="*/ 317500 w 635000"/>
              <a:gd name="connsiteY11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000" h="635000">
                <a:moveTo>
                  <a:pt x="317499" y="12699"/>
                </a:moveTo>
                <a:cubicBezTo>
                  <a:pt x="167520" y="12699"/>
                  <a:pt x="39828" y="121806"/>
                  <a:pt x="16431" y="269949"/>
                </a:cubicBezTo>
                <a:cubicBezTo>
                  <a:pt x="-6966" y="418092"/>
                  <a:pt x="80885" y="561241"/>
                  <a:pt x="223564" y="607463"/>
                </a:cubicBezTo>
                <a:cubicBezTo>
                  <a:pt x="366243" y="653685"/>
                  <a:pt x="521345" y="589241"/>
                  <a:pt x="589259" y="455520"/>
                </a:cubicBezTo>
                <a:cubicBezTo>
                  <a:pt x="657174" y="321799"/>
                  <a:pt x="617715" y="158543"/>
                  <a:pt x="496226" y="70599"/>
                </a:cubicBezTo>
                <a:lnTo>
                  <a:pt x="317500" y="317500"/>
                </a:lnTo>
                <a:cubicBezTo>
                  <a:pt x="317500" y="215900"/>
                  <a:pt x="317499" y="114299"/>
                  <a:pt x="317499" y="12699"/>
                </a:cubicBez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65" name="HarveyBall 767112">
            <a:extLst>
              <a:ext uri="{FF2B5EF4-FFF2-40B4-BE49-F238E27FC236}">
                <a16:creationId xmlns:a16="http://schemas.microsoft.com/office/drawing/2014/main" id="{BA92A6C3-4C29-CED7-AB4E-6040583106B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876456" y="2271127"/>
            <a:ext cx="360000" cy="360000"/>
          </a:xfrm>
          <a:custGeom>
            <a:avLst/>
            <a:gdLst>
              <a:gd name="connsiteX0" fmla="*/ 317500 w 635000"/>
              <a:gd name="connsiteY0" fmla="*/ 12700 h 635000"/>
              <a:gd name="connsiteX1" fmla="*/ 27577 w 635000"/>
              <a:gd name="connsiteY1" fmla="*/ 223438 h 635000"/>
              <a:gd name="connsiteX2" fmla="*/ 138558 w 635000"/>
              <a:gd name="connsiteY2" fmla="*/ 564245 h 635000"/>
              <a:gd name="connsiteX3" fmla="*/ 496979 w 635000"/>
              <a:gd name="connsiteY3" fmla="*/ 563854 h 635000"/>
              <a:gd name="connsiteX4" fmla="*/ 607217 w 635000"/>
              <a:gd name="connsiteY4" fmla="*/ 222806 h 635000"/>
              <a:gd name="connsiteX5" fmla="*/ 317500 w 635000"/>
              <a:gd name="connsiteY5" fmla="*/ 317500 h 635000"/>
              <a:gd name="connsiteX6" fmla="*/ 317500 w 635000"/>
              <a:gd name="connsiteY6" fmla="*/ 0 h 635000"/>
              <a:gd name="connsiteX7" fmla="*/ 635000 w 635000"/>
              <a:gd name="connsiteY7" fmla="*/ 317500 h 635000"/>
              <a:gd name="connsiteX8" fmla="*/ 317500 w 635000"/>
              <a:gd name="connsiteY8" fmla="*/ 635000 h 635000"/>
              <a:gd name="connsiteX9" fmla="*/ 0 w 635000"/>
              <a:gd name="connsiteY9" fmla="*/ 317500 h 635000"/>
              <a:gd name="connsiteX10" fmla="*/ 317500 w 635000"/>
              <a:gd name="connsiteY10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5000" h="635000">
                <a:moveTo>
                  <a:pt x="317500" y="12700"/>
                </a:moveTo>
                <a:cubicBezTo>
                  <a:pt x="185404" y="12700"/>
                  <a:pt x="68342" y="97789"/>
                  <a:pt x="27577" y="223438"/>
                </a:cubicBezTo>
                <a:cubicBezTo>
                  <a:pt x="-13189" y="349087"/>
                  <a:pt x="31622" y="486694"/>
                  <a:pt x="138558" y="564245"/>
                </a:cubicBezTo>
                <a:cubicBezTo>
                  <a:pt x="245494" y="641796"/>
                  <a:pt x="390213" y="641638"/>
                  <a:pt x="496979" y="563854"/>
                </a:cubicBezTo>
                <a:cubicBezTo>
                  <a:pt x="603746" y="486070"/>
                  <a:pt x="648256" y="348366"/>
                  <a:pt x="607217" y="222806"/>
                </a:cubicBezTo>
                <a:lnTo>
                  <a:pt x="317500" y="317500"/>
                </a:lnTo>
                <a:close/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dirty="0" err="1">
              <a:solidFill>
                <a:schemeClr val="bg1"/>
              </a:solidFill>
            </a:endParaRPr>
          </a:p>
        </p:txBody>
      </p:sp>
      <p:sp>
        <p:nvSpPr>
          <p:cNvPr id="76" name="Right Brace 75">
            <a:extLst>
              <a:ext uri="{FF2B5EF4-FFF2-40B4-BE49-F238E27FC236}">
                <a16:creationId xmlns:a16="http://schemas.microsoft.com/office/drawing/2014/main" id="{0C356045-1648-91DE-7C4F-1CB36911DF0A}"/>
              </a:ext>
            </a:extLst>
          </p:cNvPr>
          <p:cNvSpPr/>
          <p:nvPr/>
        </p:nvSpPr>
        <p:spPr>
          <a:xfrm rot="5400000">
            <a:off x="5957770" y="-235940"/>
            <a:ext cx="266949" cy="11073016"/>
          </a:xfrm>
          <a:prstGeom prst="rightBrace">
            <a:avLst/>
          </a:prstGeom>
          <a:noFill/>
          <a:ln w="28575" cap="flat" cmpd="sng" algn="ctr">
            <a:solidFill>
              <a:schemeClr val="dk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D63CBE2-09FB-5812-572C-E54E99B5CA74}"/>
              </a:ext>
            </a:extLst>
          </p:cNvPr>
          <p:cNvSpPr/>
          <p:nvPr/>
        </p:nvSpPr>
        <p:spPr>
          <a:xfrm>
            <a:off x="0" y="5593657"/>
            <a:ext cx="12191999" cy="542783"/>
          </a:xfrm>
          <a:prstGeom prst="rect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[Main takeaway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 this is placeholder text to replace – this is placeholder text to replace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]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917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8377B-874B-41F5-0C6D-5386DE4C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CC86-BACC-2D8A-5F8B-EEFF918E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chart – Workstream functions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BB383-2865-0821-6440-89A357497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1E5F4-6B2E-9E3E-725F-1498FC6E9B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A4103-E7EF-3CE3-DD01-9160B8F3F0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8B2FCC16-9294-F9F0-28A3-5CAADC020070}"/>
              </a:ext>
            </a:extLst>
          </p:cNvPr>
          <p:cNvSpPr txBox="1"/>
          <p:nvPr/>
        </p:nvSpPr>
        <p:spPr>
          <a:xfrm>
            <a:off x="960539" y="4630681"/>
            <a:ext cx="1649578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127DD34-1909-2423-3715-64F6B6A0B4F9}"/>
              </a:ext>
            </a:extLst>
          </p:cNvPr>
          <p:cNvSpPr txBox="1"/>
          <p:nvPr/>
        </p:nvSpPr>
        <p:spPr>
          <a:xfrm>
            <a:off x="960539" y="5171859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D4FEFEFA-6228-5DD6-006F-9AB03A5C67BD}"/>
              </a:ext>
            </a:extLst>
          </p:cNvPr>
          <p:cNvSpPr txBox="1"/>
          <p:nvPr/>
        </p:nvSpPr>
        <p:spPr>
          <a:xfrm>
            <a:off x="3114170" y="4630681"/>
            <a:ext cx="1649578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6DA7507-6382-F17F-0AE1-DD855555E4CE}"/>
              </a:ext>
            </a:extLst>
          </p:cNvPr>
          <p:cNvSpPr txBox="1"/>
          <p:nvPr/>
        </p:nvSpPr>
        <p:spPr>
          <a:xfrm>
            <a:off x="5267801" y="4630681"/>
            <a:ext cx="1649578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13627FF0-19FB-0254-8BBF-035532691C7E}"/>
              </a:ext>
            </a:extLst>
          </p:cNvPr>
          <p:cNvSpPr txBox="1"/>
          <p:nvPr/>
        </p:nvSpPr>
        <p:spPr>
          <a:xfrm>
            <a:off x="7421432" y="4630681"/>
            <a:ext cx="1649578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990AD-45CF-131D-8693-6C24F64A041B}"/>
              </a:ext>
            </a:extLst>
          </p:cNvPr>
          <p:cNvSpPr txBox="1"/>
          <p:nvPr/>
        </p:nvSpPr>
        <p:spPr>
          <a:xfrm>
            <a:off x="9574919" y="4630681"/>
            <a:ext cx="1652774" cy="42976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87423D6B-D906-713B-1151-E2985DDFFE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3747" y="3478588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07BA9D18-A1BB-89EB-1BF3-21F7F6762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5585" y="3471677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BA671BE8-3822-0606-2A15-C48A30F65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1639" y="3471677"/>
            <a:ext cx="1188721" cy="1188720"/>
          </a:xfrm>
          <a:custGeom>
            <a:avLst/>
            <a:gdLst>
              <a:gd name="T0" fmla="*/ 2361 w 2362"/>
              <a:gd name="T1" fmla="*/ 1182 h 2364"/>
              <a:gd name="T2" fmla="*/ 2361 w 2362"/>
              <a:gd name="T3" fmla="*/ 1182 h 2364"/>
              <a:gd name="T4" fmla="*/ 1181 w 2362"/>
              <a:gd name="T5" fmla="*/ 2363 h 2364"/>
              <a:gd name="T6" fmla="*/ 1181 w 2362"/>
              <a:gd name="T7" fmla="*/ 2363 h 2364"/>
              <a:gd name="T8" fmla="*/ 0 w 2362"/>
              <a:gd name="T9" fmla="*/ 1182 h 2364"/>
              <a:gd name="T10" fmla="*/ 0 w 2362"/>
              <a:gd name="T11" fmla="*/ 1182 h 2364"/>
              <a:gd name="T12" fmla="*/ 1181 w 2362"/>
              <a:gd name="T13" fmla="*/ 0 h 2364"/>
              <a:gd name="T14" fmla="*/ 1181 w 2362"/>
              <a:gd name="T15" fmla="*/ 0 h 2364"/>
              <a:gd name="T16" fmla="*/ 2361 w 2362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2" h="2364">
                <a:moveTo>
                  <a:pt x="2361" y="1182"/>
                </a:moveTo>
                <a:lnTo>
                  <a:pt x="2361" y="1182"/>
                </a:lnTo>
                <a:cubicBezTo>
                  <a:pt x="2361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8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8" y="0"/>
                  <a:pt x="1181" y="0"/>
                </a:cubicBezTo>
                <a:lnTo>
                  <a:pt x="1181" y="0"/>
                </a:lnTo>
                <a:cubicBezTo>
                  <a:pt x="1833" y="0"/>
                  <a:pt x="2361" y="529"/>
                  <a:pt x="2361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49756296-165B-7224-F1E1-A5310A195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09532" y="3482180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rgbClr val="F2F2F2"/>
          </a:solidFill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C2A007B5-0B36-93F0-889C-A5B4FE5B3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47693" y="3482180"/>
            <a:ext cx="1188721" cy="1188720"/>
          </a:xfrm>
          <a:custGeom>
            <a:avLst/>
            <a:gdLst>
              <a:gd name="T0" fmla="*/ 2363 w 2364"/>
              <a:gd name="T1" fmla="*/ 1182 h 2364"/>
              <a:gd name="T2" fmla="*/ 2363 w 2364"/>
              <a:gd name="T3" fmla="*/ 1182 h 2364"/>
              <a:gd name="T4" fmla="*/ 1181 w 2364"/>
              <a:gd name="T5" fmla="*/ 2363 h 2364"/>
              <a:gd name="T6" fmla="*/ 1181 w 2364"/>
              <a:gd name="T7" fmla="*/ 2363 h 2364"/>
              <a:gd name="T8" fmla="*/ 0 w 2364"/>
              <a:gd name="T9" fmla="*/ 1182 h 2364"/>
              <a:gd name="T10" fmla="*/ 0 w 2364"/>
              <a:gd name="T11" fmla="*/ 1182 h 2364"/>
              <a:gd name="T12" fmla="*/ 1181 w 2364"/>
              <a:gd name="T13" fmla="*/ 0 h 2364"/>
              <a:gd name="T14" fmla="*/ 1181 w 2364"/>
              <a:gd name="T15" fmla="*/ 0 h 2364"/>
              <a:gd name="T16" fmla="*/ 2363 w 2364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4" h="2364">
                <a:moveTo>
                  <a:pt x="2363" y="1182"/>
                </a:moveTo>
                <a:lnTo>
                  <a:pt x="2363" y="1182"/>
                </a:lnTo>
                <a:cubicBezTo>
                  <a:pt x="2363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3" y="529"/>
                  <a:pt x="2363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AF607BCF-B2C2-04B6-D751-2D4EC959148E}"/>
              </a:ext>
            </a:extLst>
          </p:cNvPr>
          <p:cNvSpPr txBox="1"/>
          <p:nvPr/>
        </p:nvSpPr>
        <p:spPr>
          <a:xfrm>
            <a:off x="3114897" y="5171859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7809D65A-E7A4-D08E-4A37-4CAC98AD15E7}"/>
              </a:ext>
            </a:extLst>
          </p:cNvPr>
          <p:cNvSpPr txBox="1"/>
          <p:nvPr/>
        </p:nvSpPr>
        <p:spPr>
          <a:xfrm>
            <a:off x="5269255" y="5171859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95BD9AE3-0080-191C-3DBA-2875D7156CE2}"/>
              </a:ext>
            </a:extLst>
          </p:cNvPr>
          <p:cNvSpPr txBox="1"/>
          <p:nvPr/>
        </p:nvSpPr>
        <p:spPr>
          <a:xfrm>
            <a:off x="7423613" y="5171859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0D952EE2-0348-2006-AF9D-C225EAF1BEE3}"/>
              </a:ext>
            </a:extLst>
          </p:cNvPr>
          <p:cNvSpPr txBox="1"/>
          <p:nvPr/>
        </p:nvSpPr>
        <p:spPr>
          <a:xfrm>
            <a:off x="9577970" y="5171859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FFAAFCFB-4580-AAF7-84AD-F13C740A5160}"/>
              </a:ext>
            </a:extLst>
          </p:cNvPr>
          <p:cNvSpPr txBox="1"/>
          <p:nvPr/>
        </p:nvSpPr>
        <p:spPr>
          <a:xfrm>
            <a:off x="6767272" y="1639497"/>
            <a:ext cx="1652774" cy="42976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[Workstream name]</a:t>
            </a:r>
          </a:p>
        </p:txBody>
      </p:sp>
      <p:pic>
        <p:nvPicPr>
          <p:cNvPr id="51" name="Graphic 50" descr="Call center with solid fill">
            <a:extLst>
              <a:ext uri="{FF2B5EF4-FFF2-40B4-BE49-F238E27FC236}">
                <a16:creationId xmlns:a16="http://schemas.microsoft.com/office/drawing/2014/main" id="{40438386-1336-B51F-66DC-5AC793D7FC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456180" y="3744613"/>
            <a:ext cx="663854" cy="663854"/>
          </a:xfrm>
          <a:prstGeom prst="rect">
            <a:avLst/>
          </a:prstGeom>
        </p:spPr>
      </p:pic>
      <p:pic>
        <p:nvPicPr>
          <p:cNvPr id="49" name="Graphic 48" descr="Calculator with solid fill">
            <a:extLst>
              <a:ext uri="{FF2B5EF4-FFF2-40B4-BE49-F238E27FC236}">
                <a16:creationId xmlns:a16="http://schemas.microsoft.com/office/drawing/2014/main" id="{21DDB245-C772-2B5E-BDB6-297CAAC704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10126" y="3744613"/>
            <a:ext cx="663854" cy="663854"/>
          </a:xfrm>
          <a:prstGeom prst="rect">
            <a:avLst/>
          </a:prstGeom>
        </p:spPr>
      </p:pic>
      <p:pic>
        <p:nvPicPr>
          <p:cNvPr id="41" name="Graphic 40" descr="Presentation with bar chart with solid fill">
            <a:extLst>
              <a:ext uri="{FF2B5EF4-FFF2-40B4-BE49-F238E27FC236}">
                <a16:creationId xmlns:a16="http://schemas.microsoft.com/office/drawing/2014/main" id="{DC56B80F-15DB-E523-F540-B6C4E52E3D4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64072" y="3744613"/>
            <a:ext cx="663854" cy="663854"/>
          </a:xfrm>
          <a:prstGeom prst="rect">
            <a:avLst/>
          </a:prstGeom>
        </p:spPr>
      </p:pic>
      <p:pic>
        <p:nvPicPr>
          <p:cNvPr id="47" name="Graphic 46" descr="Books with solid fill">
            <a:extLst>
              <a:ext uri="{FF2B5EF4-FFF2-40B4-BE49-F238E27FC236}">
                <a16:creationId xmlns:a16="http://schemas.microsoft.com/office/drawing/2014/main" id="{853CF2C4-0E0F-B6A6-B214-676A01542F1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918018" y="3744613"/>
            <a:ext cx="663854" cy="663854"/>
          </a:xfrm>
          <a:prstGeom prst="rect">
            <a:avLst/>
          </a:prstGeom>
        </p:spPr>
      </p:pic>
      <p:sp>
        <p:nvSpPr>
          <p:cNvPr id="54" name="Freeform 315">
            <a:extLst>
              <a:ext uri="{FF2B5EF4-FFF2-40B4-BE49-F238E27FC236}">
                <a16:creationId xmlns:a16="http://schemas.microsoft.com/office/drawing/2014/main" id="{1D41909D-5369-555D-E822-DB5472AB13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09279" y="3549144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08000" tIns="72000" rIns="72000" bIns="72000" anchor="ctr"/>
          <a:lstStyle/>
          <a:p>
            <a:pPr defTabSz="1087636">
              <a:defRPr/>
            </a:pPr>
            <a:endParaRPr lang="en-US" sz="1400" kern="0">
              <a:solidFill>
                <a:srgbClr val="061F32"/>
              </a:solidFill>
              <a:latin typeface="Arial"/>
            </a:endParaRPr>
          </a:p>
        </p:txBody>
      </p:sp>
      <p:pic>
        <p:nvPicPr>
          <p:cNvPr id="55" name="Graphic 54" descr="Camera with solid fill">
            <a:extLst>
              <a:ext uri="{FF2B5EF4-FFF2-40B4-BE49-F238E27FC236}">
                <a16:creationId xmlns:a16="http://schemas.microsoft.com/office/drawing/2014/main" id="{8F51382F-FD8B-58F8-FE5D-F94D39B359C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071965" y="3744613"/>
            <a:ext cx="663854" cy="663854"/>
          </a:xfrm>
          <a:prstGeom prst="rect">
            <a:avLst/>
          </a:prstGeom>
        </p:spPr>
      </p:pic>
      <p:sp>
        <p:nvSpPr>
          <p:cNvPr id="56" name="Trapezoid 55">
            <a:extLst>
              <a:ext uri="{FF2B5EF4-FFF2-40B4-BE49-F238E27FC236}">
                <a16:creationId xmlns:a16="http://schemas.microsoft.com/office/drawing/2014/main" id="{5B48AF3A-6A84-CE19-75E4-6F56D5E5BFFD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863480" y="2779263"/>
            <a:ext cx="10458218" cy="703637"/>
          </a:xfrm>
          <a:prstGeom prst="trapezoid">
            <a:avLst>
              <a:gd name="adj" fmla="val 694779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CA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Freeform 322">
            <a:extLst>
              <a:ext uri="{FF2B5EF4-FFF2-40B4-BE49-F238E27FC236}">
                <a16:creationId xmlns:a16="http://schemas.microsoft.com/office/drawing/2014/main" id="{77F23B8B-DE83-433E-9A86-A23DF04D04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1639" y="1771361"/>
            <a:ext cx="1188721" cy="1188720"/>
          </a:xfrm>
          <a:custGeom>
            <a:avLst/>
            <a:gdLst>
              <a:gd name="T0" fmla="*/ 2362 w 2363"/>
              <a:gd name="T1" fmla="*/ 1181 h 2363"/>
              <a:gd name="T2" fmla="*/ 2362 w 2363"/>
              <a:gd name="T3" fmla="*/ 1181 h 2363"/>
              <a:gd name="T4" fmla="*/ 1181 w 2363"/>
              <a:gd name="T5" fmla="*/ 2362 h 2363"/>
              <a:gd name="T6" fmla="*/ 1181 w 2363"/>
              <a:gd name="T7" fmla="*/ 2362 h 2363"/>
              <a:gd name="T8" fmla="*/ 0 w 2363"/>
              <a:gd name="T9" fmla="*/ 1181 h 2363"/>
              <a:gd name="T10" fmla="*/ 0 w 2363"/>
              <a:gd name="T11" fmla="*/ 1181 h 2363"/>
              <a:gd name="T12" fmla="*/ 1181 w 2363"/>
              <a:gd name="T13" fmla="*/ 0 h 2363"/>
              <a:gd name="T14" fmla="*/ 1181 w 2363"/>
              <a:gd name="T15" fmla="*/ 0 h 2363"/>
              <a:gd name="T16" fmla="*/ 2362 w 2363"/>
              <a:gd name="T17" fmla="*/ 1181 h 2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3">
                <a:moveTo>
                  <a:pt x="2362" y="1181"/>
                </a:moveTo>
                <a:lnTo>
                  <a:pt x="2362" y="1181"/>
                </a:lnTo>
                <a:cubicBezTo>
                  <a:pt x="2362" y="1834"/>
                  <a:pt x="1833" y="2362"/>
                  <a:pt x="1181" y="2362"/>
                </a:cubicBezTo>
                <a:lnTo>
                  <a:pt x="1181" y="2362"/>
                </a:lnTo>
                <a:cubicBezTo>
                  <a:pt x="529" y="2362"/>
                  <a:pt x="0" y="1834"/>
                  <a:pt x="0" y="1181"/>
                </a:cubicBezTo>
                <a:lnTo>
                  <a:pt x="0" y="1181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1"/>
                </a:cubicBezTo>
              </a:path>
            </a:pathLst>
          </a:custGeom>
          <a:solidFill>
            <a:schemeClr val="dk1"/>
          </a:solidFill>
          <a:effectLst/>
        </p:spPr>
        <p:txBody>
          <a:bodyPr lIns="108000" tIns="72000" rIns="72000" bIns="72000" anchor="ctr"/>
          <a:lstStyle/>
          <a:p>
            <a:pPr marL="0" marR="0" lvl="0" indent="0" defTabSz="10876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F263B0B1-65B1-5680-1CC0-1AC5D6634EF6}"/>
              </a:ext>
            </a:extLst>
          </p:cNvPr>
          <p:cNvSpPr txBox="1"/>
          <p:nvPr/>
        </p:nvSpPr>
        <p:spPr>
          <a:xfrm>
            <a:off x="6770323" y="2180675"/>
            <a:ext cx="164957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>
              <a:defRPr/>
            </a:pPr>
            <a:r>
              <a:rPr lang="en-US" sz="1400" kern="0" dirty="0">
                <a:solidFill>
                  <a:schemeClr val="dk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[Brief description of the workstream function]</a:t>
            </a:r>
          </a:p>
        </p:txBody>
      </p:sp>
      <p:pic>
        <p:nvPicPr>
          <p:cNvPr id="43" name="Graphic 42" descr="Flowchart with solid fill">
            <a:extLst>
              <a:ext uri="{FF2B5EF4-FFF2-40B4-BE49-F238E27FC236}">
                <a16:creationId xmlns:a16="http://schemas.microsoft.com/office/drawing/2014/main" id="{8CF14444-3E1D-34B6-9244-629B8B010A2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764072" y="2033794"/>
            <a:ext cx="663854" cy="6638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733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6432-2CB8-C910-8F15-A72AABEB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6EFE-EBF2-5330-C2F4-139A16E5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 – Scenario comparison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5C5D6-8913-6332-A1F8-6E6CD07BD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A9C7C-3784-2D53-ADE0-AE18D97736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D7139-5A70-6DFC-A1CB-C444261E10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154D7-A58C-C32D-DEC6-D8FD8439B4F4}"/>
              </a:ext>
            </a:extLst>
          </p:cNvPr>
          <p:cNvSpPr txBox="1"/>
          <p:nvPr/>
        </p:nvSpPr>
        <p:spPr>
          <a:xfrm>
            <a:off x="558609" y="1501100"/>
            <a:ext cx="6985191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>
              <a:defRPr/>
            </a:pPr>
            <a:r>
              <a:rPr lang="en-GB" sz="1400" b="1" dirty="0">
                <a:solidFill>
                  <a:srgbClr val="1B1B1D"/>
                </a:solidFill>
                <a:latin typeface="Aptos" panose="020B0004020202020204" pitchFamily="34" charset="0"/>
              </a:rPr>
              <a:t>[Chart description – this is placeholder text to replace]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95E5A4-BF5F-053A-9D61-72C0FC81DB91}"/>
              </a:ext>
            </a:extLst>
          </p:cNvPr>
          <p:cNvCxnSpPr>
            <a:cxnSpLocks/>
          </p:cNvCxnSpPr>
          <p:nvPr/>
        </p:nvCxnSpPr>
        <p:spPr>
          <a:xfrm>
            <a:off x="558609" y="1967347"/>
            <a:ext cx="6986252" cy="0"/>
          </a:xfrm>
          <a:prstGeom prst="line">
            <a:avLst/>
          </a:prstGeom>
          <a:noFill/>
          <a:ln w="15875" cap="flat" cmpd="sng" algn="ctr">
            <a:solidFill>
              <a:schemeClr val="dk1"/>
            </a:solidFill>
            <a:prstDash val="soli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087EDC-EE75-6C3C-3482-CE32212D1726}"/>
              </a:ext>
            </a:extLst>
          </p:cNvPr>
          <p:cNvSpPr txBox="1"/>
          <p:nvPr/>
        </p:nvSpPr>
        <p:spPr>
          <a:xfrm>
            <a:off x="558609" y="2046774"/>
            <a:ext cx="1948636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chemeClr val="accent5"/>
                </a:solidFill>
                <a:latin typeface="Aptos" panose="020B0004020202020204" pitchFamily="34" charset="0"/>
              </a:rPr>
              <a:t>[Unit]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97043-9190-7ADC-F055-4601A37F7481}"/>
              </a:ext>
            </a:extLst>
          </p:cNvPr>
          <p:cNvSpPr txBox="1"/>
          <p:nvPr/>
        </p:nvSpPr>
        <p:spPr>
          <a:xfrm>
            <a:off x="8106032" y="1501100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>
              <a:defRPr/>
            </a:pPr>
            <a:r>
              <a:rPr lang="en-GB" sz="1400" b="1" dirty="0">
                <a:solidFill>
                  <a:srgbClr val="1B1B1D"/>
                </a:solidFill>
                <a:latin typeface="Aptos" panose="020B0004020202020204" pitchFamily="34" charset="0"/>
              </a:rPr>
              <a:t>Key takeaways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4D85B1-7FA5-1CED-7C0A-5C46BDE09CE1}"/>
              </a:ext>
            </a:extLst>
          </p:cNvPr>
          <p:cNvCxnSpPr>
            <a:cxnSpLocks/>
          </p:cNvCxnSpPr>
          <p:nvPr/>
        </p:nvCxnSpPr>
        <p:spPr>
          <a:xfrm>
            <a:off x="7824916" y="1501100"/>
            <a:ext cx="1" cy="4500033"/>
          </a:xfrm>
          <a:prstGeom prst="line">
            <a:avLst/>
          </a:prstGeom>
          <a:noFill/>
          <a:ln w="12700" cap="flat" cmpd="sng" algn="ctr">
            <a:solidFill>
              <a:schemeClr val="dk1"/>
            </a:solidFill>
            <a:prstDash val="dash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A23050-9D3B-7104-4F67-35019B4F37AE}"/>
              </a:ext>
            </a:extLst>
          </p:cNvPr>
          <p:cNvCxnSpPr>
            <a:cxnSpLocks/>
          </p:cNvCxnSpPr>
          <p:nvPr/>
        </p:nvCxnSpPr>
        <p:spPr>
          <a:xfrm>
            <a:off x="8106032" y="1967347"/>
            <a:ext cx="3535105" cy="0"/>
          </a:xfrm>
          <a:prstGeom prst="line">
            <a:avLst/>
          </a:prstGeom>
          <a:noFill/>
          <a:ln w="15875" cap="flat" cmpd="sng" algn="ctr">
            <a:solidFill>
              <a:schemeClr val="dk1"/>
            </a:solidFill>
            <a:prstDash val="soli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0E1A503-EBED-4324-456A-89C21B4616C5}"/>
              </a:ext>
            </a:extLst>
          </p:cNvPr>
          <p:cNvSpPr txBox="1"/>
          <p:nvPr/>
        </p:nvSpPr>
        <p:spPr>
          <a:xfrm>
            <a:off x="8106031" y="2110133"/>
            <a:ext cx="3535105" cy="37750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defTabSz="914400" eaLnBrk="1" fontAlgn="auto" latinLnBrk="0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71450" indent="-1714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71450" indent="-1714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  <a:p>
            <a:pPr marL="171450" indent="-1714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</a:rPr>
              <a:t>[Key takeaway]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– [Supporting argument for this key takeaway – this is placeholder text to replace – this is placeholder text to replace]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927C9CD-A1C4-0AC4-DD0B-BD102378AFA9}"/>
              </a:ext>
            </a:extLst>
          </p:cNvPr>
          <p:cNvGrpSpPr/>
          <p:nvPr/>
        </p:nvGrpSpPr>
        <p:grpSpPr>
          <a:xfrm>
            <a:off x="7601774" y="3527977"/>
            <a:ext cx="446281" cy="446281"/>
            <a:chOff x="7601774" y="3527977"/>
            <a:chExt cx="446281" cy="446281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A699627-03A6-2039-0B48-9E1CAD7E545D}"/>
                </a:ext>
              </a:extLst>
            </p:cNvPr>
            <p:cNvSpPr>
              <a:spLocks/>
            </p:cNvSpPr>
            <p:nvPr/>
          </p:nvSpPr>
          <p:spPr>
            <a:xfrm>
              <a:off x="7601774" y="3527977"/>
              <a:ext cx="446281" cy="446281"/>
            </a:xfrm>
            <a:prstGeom prst="ellipse">
              <a:avLst/>
            </a:prstGeom>
            <a:solidFill>
              <a:schemeClr val="accent3"/>
            </a:solidFill>
            <a:ln w="15875">
              <a:noFill/>
            </a:ln>
            <a:effectLst/>
          </p:spPr>
          <p:txBody>
            <a:bodyPr vert="horz" wrap="none" lIns="0" tIns="0" rIns="0" bIns="0" numCol="1" spcCol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pic>
          <p:nvPicPr>
            <p:cNvPr id="51" name="Graphic 50" descr="Caret Up with solid fill">
              <a:extLst>
                <a:ext uri="{FF2B5EF4-FFF2-40B4-BE49-F238E27FC236}">
                  <a16:creationId xmlns:a16="http://schemas.microsoft.com/office/drawing/2014/main" id="{BA4C58F6-50B7-9CDA-919B-B1E66C16E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7645020" y="3557220"/>
              <a:ext cx="387795" cy="38779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0E47F66-C2D5-FE17-90DE-78460D8427DA}"/>
              </a:ext>
            </a:extLst>
          </p:cNvPr>
          <p:cNvSpPr>
            <a:spLocks/>
          </p:cNvSpPr>
          <p:nvPr/>
        </p:nvSpPr>
        <p:spPr>
          <a:xfrm>
            <a:off x="6380198" y="3120968"/>
            <a:ext cx="1106825" cy="169277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25D97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[Scenario name]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437645-08EA-FDB3-5CDA-D7231EF7F857}"/>
              </a:ext>
            </a:extLst>
          </p:cNvPr>
          <p:cNvSpPr>
            <a:spLocks/>
          </p:cNvSpPr>
          <p:nvPr/>
        </p:nvSpPr>
        <p:spPr>
          <a:xfrm>
            <a:off x="6380198" y="4449099"/>
            <a:ext cx="1106825" cy="169277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25D97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[Scenario name]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78A7604-7229-9E20-FA0F-4069A47A4634}"/>
              </a:ext>
            </a:extLst>
          </p:cNvPr>
          <p:cNvGraphicFramePr/>
          <p:nvPr/>
        </p:nvGraphicFramePr>
        <p:xfrm>
          <a:off x="550863" y="2589564"/>
          <a:ext cx="6075121" cy="3363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171B07-11B4-8631-1A7B-DF5674F317B1}"/>
              </a:ext>
            </a:extLst>
          </p:cNvPr>
          <p:cNvCxnSpPr>
            <a:cxnSpLocks/>
          </p:cNvCxnSpPr>
          <p:nvPr/>
        </p:nvCxnSpPr>
        <p:spPr>
          <a:xfrm flipV="1">
            <a:off x="6282640" y="3247691"/>
            <a:ext cx="0" cy="1241029"/>
          </a:xfrm>
          <a:prstGeom prst="straightConnector1">
            <a:avLst/>
          </a:prstGeom>
          <a:noFill/>
          <a:ln w="15875" cap="flat" cmpd="sng" algn="ctr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25772C0-126F-28E3-8C15-3498FA1E0FE4}"/>
              </a:ext>
            </a:extLst>
          </p:cNvPr>
          <p:cNvSpPr>
            <a:spLocks/>
          </p:cNvSpPr>
          <p:nvPr/>
        </p:nvSpPr>
        <p:spPr>
          <a:xfrm>
            <a:off x="6098226" y="3683792"/>
            <a:ext cx="368827" cy="368827"/>
          </a:xfrm>
          <a:prstGeom prst="ellipse">
            <a:avLst/>
          </a:prstGeom>
          <a:solidFill>
            <a:schemeClr val="tx1"/>
          </a:solidFill>
          <a:ln w="15875">
            <a:noFill/>
          </a:ln>
          <a:effectLst/>
        </p:spPr>
        <p:txBody>
          <a:bodyPr vert="horz" wrap="none" lIns="0" tIns="0" rIns="0" bIns="0" numCol="1" spcCol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0B0004020202020204" pitchFamily="34" charset="0"/>
              </a:rPr>
              <a:t>[</a:t>
            </a:r>
            <a:r>
              <a:rPr lang="en-US" altLang="en-US" sz="900" kern="0" dirty="0">
                <a:solidFill>
                  <a:schemeClr val="lt1"/>
                </a:solidFill>
                <a:latin typeface="Aptos" panose="020B0004020202020204" pitchFamily="34" charset="0"/>
              </a:rPr>
              <a:t>##</a:t>
            </a: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0B0004020202020204" pitchFamily="34" charset="0"/>
              </a:rPr>
              <a:t>]%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C3687C-3FBD-E732-C16E-22824B62DB54}"/>
              </a:ext>
            </a:extLst>
          </p:cNvPr>
          <p:cNvCxnSpPr>
            <a:cxnSpLocks/>
          </p:cNvCxnSpPr>
          <p:nvPr/>
        </p:nvCxnSpPr>
        <p:spPr>
          <a:xfrm flipV="1">
            <a:off x="4753811" y="3854557"/>
            <a:ext cx="0" cy="634163"/>
          </a:xfrm>
          <a:prstGeom prst="straightConnector1">
            <a:avLst/>
          </a:prstGeom>
          <a:noFill/>
          <a:ln w="15875" cap="flat" cmpd="sng" algn="ctr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C21237C-FB43-8B6E-6EB2-12274A2A966C}"/>
              </a:ext>
            </a:extLst>
          </p:cNvPr>
          <p:cNvSpPr>
            <a:spLocks/>
          </p:cNvSpPr>
          <p:nvPr/>
        </p:nvSpPr>
        <p:spPr>
          <a:xfrm>
            <a:off x="4569397" y="3987225"/>
            <a:ext cx="368827" cy="368827"/>
          </a:xfrm>
          <a:prstGeom prst="ellipse">
            <a:avLst/>
          </a:prstGeom>
          <a:solidFill>
            <a:schemeClr val="tx1"/>
          </a:solidFill>
          <a:ln w="15875">
            <a:noFill/>
          </a:ln>
          <a:effectLst/>
        </p:spPr>
        <p:txBody>
          <a:bodyPr vert="horz" wrap="none" lIns="0" tIns="0" rIns="0" bIns="0" numCol="1" spcCol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0B0004020202020204" pitchFamily="34" charset="0"/>
              </a:rPr>
              <a:t>[</a:t>
            </a:r>
            <a:r>
              <a:rPr lang="en-US" altLang="en-US" sz="900" kern="0" dirty="0">
                <a:solidFill>
                  <a:schemeClr val="lt1"/>
                </a:solidFill>
                <a:latin typeface="Aptos" panose="020B0004020202020204" pitchFamily="34" charset="0"/>
              </a:rPr>
              <a:t>##</a:t>
            </a: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ptos" panose="020B0004020202020204" pitchFamily="34" charset="0"/>
              </a:rPr>
              <a:t>]%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04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0E76-C3B9-33B8-EB33-8C6DFC33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recommendations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9EF4A-2285-436D-FB46-E3B18A1479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AC376-340E-CEC2-7103-9777C4B90E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2F611-E48A-6309-EF20-63F930F41F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9456C-0D18-A611-BDA9-63530CED073D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54735" y="1697619"/>
            <a:ext cx="6027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0DD83B-F48C-E138-B72B-166B2A62081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1424746"/>
            <a:ext cx="508255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A selection of key project insights...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C8435-591B-47EB-FD9C-013C2678DC0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46870" y="1424746"/>
            <a:ext cx="49787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…inform recommendations for [client] in their journey ahead.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2A400711-DDC4-7D0B-8D85-0DEDC13B35A9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 rot="16200000">
            <a:off x="3595068" y="3700212"/>
            <a:ext cx="4456575" cy="847031"/>
          </a:xfrm>
          <a:prstGeom prst="trapezoid">
            <a:avLst>
              <a:gd name="adj" fmla="val 79139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52445-8E53-F185-0A3F-DEF981E5F241}"/>
              </a:ext>
            </a:extLst>
          </p:cNvPr>
          <p:cNvSpPr/>
          <p:nvPr/>
        </p:nvSpPr>
        <p:spPr>
          <a:xfrm>
            <a:off x="6357101" y="1895441"/>
            <a:ext cx="5264722" cy="965408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Segoe UI" panose="020B0502040204020203" pitchFamily="34" charset="0"/>
              </a:rPr>
              <a:t>[Client recommendation]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[Description and supporting argument for this recommendation– 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replace]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77605E-71A9-3C46-1D3D-3E892B8F8894}"/>
              </a:ext>
            </a:extLst>
          </p:cNvPr>
          <p:cNvCxnSpPr>
            <a:cxnSpLocks/>
          </p:cNvCxnSpPr>
          <p:nvPr/>
        </p:nvCxnSpPr>
        <p:spPr>
          <a:xfrm>
            <a:off x="6285740" y="1895441"/>
            <a:ext cx="0" cy="966974"/>
          </a:xfrm>
          <a:prstGeom prst="line">
            <a:avLst/>
          </a:prstGeom>
          <a:ln w="3810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8B25EB3-E793-1BEB-46AF-ACA8A3844736}"/>
              </a:ext>
            </a:extLst>
          </p:cNvPr>
          <p:cNvSpPr/>
          <p:nvPr/>
        </p:nvSpPr>
        <p:spPr>
          <a:xfrm>
            <a:off x="6372541" y="5386608"/>
            <a:ext cx="5264722" cy="965408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Segoe UI" panose="020B0502040204020203" pitchFamily="34" charset="0"/>
              </a:rPr>
              <a:t>[Client recommendation]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[Description and supporting argument for this recommendation– 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replace]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AFBD6-A528-C019-D924-75D1AFEA7357}"/>
              </a:ext>
            </a:extLst>
          </p:cNvPr>
          <p:cNvCxnSpPr>
            <a:cxnSpLocks/>
          </p:cNvCxnSpPr>
          <p:nvPr/>
        </p:nvCxnSpPr>
        <p:spPr>
          <a:xfrm>
            <a:off x="6285740" y="5386608"/>
            <a:ext cx="0" cy="965408"/>
          </a:xfrm>
          <a:prstGeom prst="line">
            <a:avLst/>
          </a:prstGeom>
          <a:ln w="3810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88081-D62A-CB4A-0910-CC18FEBDF487}"/>
              </a:ext>
            </a:extLst>
          </p:cNvPr>
          <p:cNvSpPr/>
          <p:nvPr/>
        </p:nvSpPr>
        <p:spPr>
          <a:xfrm>
            <a:off x="6372542" y="4223407"/>
            <a:ext cx="5264722" cy="965408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Segoe UI" panose="020B0502040204020203" pitchFamily="34" charset="0"/>
              </a:rPr>
              <a:t>[Client recommendation]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[Description and supporting argument for this recommendation– 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replace]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DE472D-C89B-FA20-25D5-DBFADDD0CEAE}"/>
              </a:ext>
            </a:extLst>
          </p:cNvPr>
          <p:cNvCxnSpPr>
            <a:cxnSpLocks/>
          </p:cNvCxnSpPr>
          <p:nvPr/>
        </p:nvCxnSpPr>
        <p:spPr>
          <a:xfrm>
            <a:off x="6285740" y="4223407"/>
            <a:ext cx="0" cy="965408"/>
          </a:xfrm>
          <a:prstGeom prst="line">
            <a:avLst/>
          </a:prstGeom>
          <a:ln w="3810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5185AD-581F-2F36-4AF0-AC81B68ED639}"/>
              </a:ext>
            </a:extLst>
          </p:cNvPr>
          <p:cNvSpPr/>
          <p:nvPr/>
        </p:nvSpPr>
        <p:spPr>
          <a:xfrm>
            <a:off x="6357101" y="3060207"/>
            <a:ext cx="5264722" cy="965408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Segoe UI" panose="020B0502040204020203" pitchFamily="34" charset="0"/>
              </a:rPr>
              <a:t>[Client recommendation]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[Description and supporting argument for this recommendation– 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–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this is placeholder text to replace]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36422A-CC71-1451-401F-D4800FD86928}"/>
              </a:ext>
            </a:extLst>
          </p:cNvPr>
          <p:cNvCxnSpPr>
            <a:cxnSpLocks/>
          </p:cNvCxnSpPr>
          <p:nvPr/>
        </p:nvCxnSpPr>
        <p:spPr>
          <a:xfrm>
            <a:off x="6285740" y="3060207"/>
            <a:ext cx="0" cy="965408"/>
          </a:xfrm>
          <a:prstGeom prst="line">
            <a:avLst/>
          </a:prstGeom>
          <a:ln w="3810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563AAB-C394-98B6-876C-956BE0AEAD3B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259230" y="1697619"/>
            <a:ext cx="590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4">
            <a:extLst>
              <a:ext uri="{FF2B5EF4-FFF2-40B4-BE49-F238E27FC236}">
                <a16:creationId xmlns:a16="http://schemas.microsoft.com/office/drawing/2014/main" id="{845FCF4C-5388-4ADA-F905-5928D75F635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61197" y="2139851"/>
            <a:ext cx="5076090" cy="3967753"/>
          </a:xfrm>
          <a:prstGeom prst="rect">
            <a:avLst/>
          </a:prstGeom>
        </p:spPr>
        <p:txBody>
          <a:bodyPr vert="horz" wrap="square" lIns="0" tIns="0" rIns="9144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[Key insight]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[Description and supporting argument for this project insight – t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[Key insight]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[Description and supporting argument for this project insight – t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[Key insight]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[Description and supporting argument for this project insight – t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replace] </a:t>
            </a:r>
            <a:endParaRPr lang="en-US" sz="1100" dirty="0"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rPr>
              <a:t>[Key insight]</a:t>
            </a:r>
          </a:p>
          <a:p>
            <a:pPr marL="0" marR="0" lvl="1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[Description and supporting argument for this project insight – t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 </a:t>
            </a:r>
            <a:r>
              <a:rPr lang="en-GB" sz="1100" dirty="0">
                <a:solidFill>
                  <a:schemeClr val="tx1"/>
                </a:solidFill>
                <a:latin typeface="Aptos" panose="020B0004020202020204" pitchFamily="34" charset="0"/>
              </a:rPr>
              <a:t>–</a:t>
            </a:r>
            <a:r>
              <a:rPr lang="en-US" sz="1100" dirty="0">
                <a:solidFill>
                  <a:schemeClr val="tx1"/>
                </a:solidFill>
                <a:latin typeface="Aptos" panose="020B0004020202020204" pitchFamily="34" charset="0"/>
              </a:rPr>
              <a:t> this is placeholder text to replace]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4144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2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10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5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7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10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7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5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7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CMr6RibXZmSRpUA1SVo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h1zjdYYdPvfJNQlDk.p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lVrHL_HS2oMbrIkpx0.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VlnypratD2Zl0tqxCBS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9_GTamdAZ.rEs4T7G56B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.DCkD7hpfFT578z3oms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icDO8i4raxLtHWlgwvW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8PZskbbLQi.n4xVIyyc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9XI0ByOjU66TB7csJEr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LLvkacoVCSyj5TMAn0V8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19PRt6GBn1Fx8XBsn4HL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Rkidi08jwseAq44fxn8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mKiEbfohWGTTdXNlrC.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4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2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2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9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1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TRUMENTA HARVEYBALL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_SLIDE_COLLAPSE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PowerPoint Layout">
  <a:themeElements>
    <a:clrScheme name="PowerTools Garyscale">
      <a:dk1>
        <a:srgbClr val="000000"/>
      </a:dk1>
      <a:lt1>
        <a:srgbClr val="FFFFFF"/>
      </a:lt1>
      <a:dk2>
        <a:srgbClr val="5F5F5F"/>
      </a:dk2>
      <a:lt2>
        <a:srgbClr val="F8F8F8"/>
      </a:lt2>
      <a:accent1>
        <a:srgbClr val="EFEFEF"/>
      </a:accent1>
      <a:accent2>
        <a:srgbClr val="E5E5E5"/>
      </a:accent2>
      <a:accent3>
        <a:srgbClr val="D0D0D0"/>
      </a:accent3>
      <a:accent4>
        <a:srgbClr val="9F9F9F"/>
      </a:accent4>
      <a:accent5>
        <a:srgbClr val="5F5F5F"/>
      </a:accent5>
      <a:accent6>
        <a:srgbClr val="4D4D4D"/>
      </a:accent6>
      <a:hlink>
        <a:srgbClr val="919191"/>
      </a:hlink>
      <a:folHlink>
        <a:srgbClr val="B2B2B2"/>
      </a:folHlink>
    </a:clrScheme>
    <a:fontScheme name="PowerTools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owerTools">
    <a:dk1>
      <a:srgbClr val="FFFFFF"/>
    </a:dk1>
    <a:lt1>
      <a:srgbClr val="000000"/>
    </a:lt1>
    <a:dk2>
      <a:srgbClr val="686868"/>
    </a:dk2>
    <a:lt2>
      <a:srgbClr val="1B1B1D"/>
    </a:lt2>
    <a:accent1>
      <a:srgbClr val="125D97"/>
    </a:accent1>
    <a:accent2>
      <a:srgbClr val="3478AB"/>
    </a:accent2>
    <a:accent3>
      <a:srgbClr val="1D4769"/>
    </a:accent3>
    <a:accent4>
      <a:srgbClr val="061F32"/>
    </a:accent4>
    <a:accent5>
      <a:srgbClr val="EE6C4D"/>
    </a:accent5>
    <a:accent6>
      <a:srgbClr val="F8BC3B"/>
    </a:accent6>
    <a:hlink>
      <a:srgbClr val="3478AB"/>
    </a:hlink>
    <a:folHlink>
      <a:srgbClr val="8B78AB"/>
    </a:folHlink>
  </a:clrScheme>
  <a:fontScheme name="PowerTools Fonts">
    <a:majorFont>
      <a:latin typeface="Aptos"/>
      <a:ea typeface=""/>
      <a:cs typeface=""/>
    </a:majorFont>
    <a:minorFont>
      <a:latin typeface="Aptos"/>
      <a:ea typeface=""/>
      <a:cs typeface=""/>
    </a:minorFont>
  </a:fontScheme>
  <a:fmtScheme name="Subtle Solids">
    <a:fillStyleLst>
      <a:solidFill>
        <a:schemeClr val="phClr"/>
      </a:solidFill>
      <a:solidFill>
        <a:schemeClr val="phClr">
          <a:tint val="65000"/>
        </a:schemeClr>
      </a:solidFill>
      <a:solidFill>
        <a:schemeClr val="phClr">
          <a:shade val="80000"/>
          <a:satMod val="150000"/>
        </a:schemeClr>
      </a:solidFill>
    </a:fillStyleLst>
    <a:lnStyleLst>
      <a:ln w="9525" cap="flat" cmpd="sng" algn="ctr">
        <a:solidFill>
          <a:schemeClr val="phClr"/>
        </a:solidFill>
        <a:prstDash val="solid"/>
      </a:ln>
      <a:ln w="10795" cap="flat" cmpd="sng" algn="ctr">
        <a:solidFill>
          <a:schemeClr val="phClr"/>
        </a:solidFill>
        <a:prstDash val="solid"/>
      </a:ln>
      <a:ln w="17145" cap="flat" cmpd="sng" algn="ctr">
        <a:solidFill>
          <a:schemeClr val="phClr">
            <a:shade val="95000"/>
            <a:alpha val="50000"/>
            <a:satMod val="150000"/>
          </a:schemeClr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212fe9-3a03-47f9-989e-8fbee8edee62" xsi:nil="true"/>
    <lcf76f155ced4ddcb4097134ff3c332f xmlns="25afb3b1-4a0c-4a14-b44d-9c4987d1bf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868CCB830EB6459C7BBB6C9820D439" ma:contentTypeVersion="12" ma:contentTypeDescription="Create a new document." ma:contentTypeScope="" ma:versionID="1879f629fef1f9edabc98eb08451777a">
  <xsd:schema xmlns:xsd="http://www.w3.org/2001/XMLSchema" xmlns:xs="http://www.w3.org/2001/XMLSchema" xmlns:p="http://schemas.microsoft.com/office/2006/metadata/properties" xmlns:ns2="25afb3b1-4a0c-4a14-b44d-9c4987d1bffb" xmlns:ns3="66212fe9-3a03-47f9-989e-8fbee8edee62" targetNamespace="http://schemas.microsoft.com/office/2006/metadata/properties" ma:root="true" ma:fieldsID="58b361396664afd18a94620dc76f8d95" ns2:_="" ns3:_="">
    <xsd:import namespace="25afb3b1-4a0c-4a14-b44d-9c4987d1bffb"/>
    <xsd:import namespace="66212fe9-3a03-47f9-989e-8fbee8edee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fb3b1-4a0c-4a14-b44d-9c4987d1b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2ff1c6-aab8-4d22-b4c5-0a113966cc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12fe9-3a03-47f9-989e-8fbee8edee6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928d306-f61d-43b6-913b-d4b9246a8d87}" ma:internalName="TaxCatchAll" ma:showField="CatchAllData" ma:web="66212fe9-3a03-47f9-989e-8fbee8edee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8D55F0-7173-4F1A-8985-9576CC10A2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EB5AEA-48F0-4D9B-AE57-6402B7E58B9B}">
  <ds:schemaRefs>
    <ds:schemaRef ds:uri="http://purl.org/dc/elements/1.1/"/>
    <ds:schemaRef ds:uri="66212fe9-3a03-47f9-989e-8fbee8edee62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5afb3b1-4a0c-4a14-b44d-9c4987d1bffb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E407509-ABED-4CBC-BD6D-7A54C6CFD1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afb3b1-4a0c-4a14-b44d-9c4987d1bffb"/>
    <ds:schemaRef ds:uri="66212fe9-3a03-47f9-989e-8fbee8edee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2095</Words>
  <Application>Microsoft Office PowerPoint</Application>
  <PresentationFormat>Widescreen</PresentationFormat>
  <Paragraphs>210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Open Sans</vt:lpstr>
      <vt:lpstr>Segoe UI</vt:lpstr>
      <vt:lpstr>Wingdings</vt:lpstr>
      <vt:lpstr>Wingdings 2</vt:lpstr>
      <vt:lpstr>PowerPoint Layout</vt:lpstr>
      <vt:lpstr>Consulting Toolkit Sample</vt:lpstr>
      <vt:lpstr>Contents of the Consulting Toolkit</vt:lpstr>
      <vt:lpstr>Reader’s guide</vt:lpstr>
      <vt:lpstr>Hypotheses – Takeaways</vt:lpstr>
      <vt:lpstr>Option assessment – Matrix view</vt:lpstr>
      <vt:lpstr>Competitor evaluation – Overview</vt:lpstr>
      <vt:lpstr>Competitor evaluation – Matrix</vt:lpstr>
      <vt:lpstr>Process overview – Arrows</vt:lpstr>
      <vt:lpstr>Driver tree</vt:lpstr>
      <vt:lpstr>Organizational chart – Workstream functions</vt:lpstr>
      <vt:lpstr>Line chart – Scenario comparison</vt:lpstr>
      <vt:lpstr>Insights and recommendations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2024-11-29T21:15:07Z</dcterms:created>
  <dcterms:modified xsi:type="dcterms:W3CDTF">2025-01-09T18:05:51Z</dcterms:modified>
  <cp:category/>
</cp:coreProperties>
</file>